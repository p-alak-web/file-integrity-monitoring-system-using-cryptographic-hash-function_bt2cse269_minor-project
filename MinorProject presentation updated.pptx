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7" r:id="rId3"/>
    <p:sldId id="288" r:id="rId4"/>
    <p:sldId id="300" r:id="rId5"/>
    <p:sldId id="290" r:id="rId6"/>
    <p:sldId id="289" r:id="rId7"/>
    <p:sldId id="291" r:id="rId8"/>
    <p:sldId id="298" r:id="rId9"/>
    <p:sldId id="292" r:id="rId10"/>
    <p:sldId id="293" r:id="rId11"/>
    <p:sldId id="294" r:id="rId12"/>
    <p:sldId id="295" r:id="rId13"/>
    <p:sldId id="299" r:id="rId14"/>
    <p:sldId id="302" r:id="rId15"/>
    <p:sldId id="297" r:id="rId16"/>
    <p:sldId id="301" r:id="rId17"/>
    <p:sldId id="286" r:id="rId18"/>
  </p:sldIdLst>
  <p:sldSz cx="12192000" cy="6858000"/>
  <p:notesSz cx="6858000" cy="9144000"/>
  <p:embeddedFontLst>
    <p:embeddedFont>
      <p:font typeface="Baskerville Old Face" panose="02020602080505020303" pitchFamily="18" charset="0"/>
      <p:regular r:id="rId20"/>
    </p:embeddedFont>
    <p:embeddedFont>
      <p:font typeface="Pinyon Script" panose="020B0604020202020204" charset="0"/>
      <p:regular r:id="rId21"/>
    </p:embeddedFont>
    <p:embeddedFont>
      <p:font typeface="Play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gUjLHjg5Ww669CzF2YAF6lFhFT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9AA0CE-8EBA-4A3B-BBD3-D00D32987A00}" v="12" dt="2026-05-05T18:31:59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43" Type="http://customschemas.google.com/relationships/presentationmetadata" Target="metadata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k Upadhyay" userId="3449b0803ca9fcfd" providerId="LiveId" clId="{F290F986-CB76-4FDB-A1ED-07B1836FC1BC}"/>
    <pc:docChg chg="undo custSel addSld modSld sldOrd">
      <pc:chgData name="Palak Upadhyay" userId="3449b0803ca9fcfd" providerId="LiveId" clId="{F290F986-CB76-4FDB-A1ED-07B1836FC1BC}" dt="2026-05-05T18:33:37.607" v="315" actId="113"/>
      <pc:docMkLst>
        <pc:docMk/>
      </pc:docMkLst>
      <pc:sldChg chg="modSp mod">
        <pc:chgData name="Palak Upadhyay" userId="3449b0803ca9fcfd" providerId="LiveId" clId="{F290F986-CB76-4FDB-A1ED-07B1836FC1BC}" dt="2026-05-05T18:21:24.547" v="250" actId="1038"/>
        <pc:sldMkLst>
          <pc:docMk/>
          <pc:sldMk cId="2175180308" sldId="287"/>
        </pc:sldMkLst>
        <pc:spChg chg="mod">
          <ac:chgData name="Palak Upadhyay" userId="3449b0803ca9fcfd" providerId="LiveId" clId="{F290F986-CB76-4FDB-A1ED-07B1836FC1BC}" dt="2026-05-05T18:21:24.547" v="250" actId="1038"/>
          <ac:spMkLst>
            <pc:docMk/>
            <pc:sldMk cId="2175180308" sldId="287"/>
            <ac:spMk id="3" creationId="{359DFCAB-192B-62F7-2311-61B2E0260B88}"/>
          </ac:spMkLst>
        </pc:spChg>
      </pc:sldChg>
      <pc:sldChg chg="modSp mod">
        <pc:chgData name="Palak Upadhyay" userId="3449b0803ca9fcfd" providerId="LiveId" clId="{F290F986-CB76-4FDB-A1ED-07B1836FC1BC}" dt="2026-05-05T18:13:39.405" v="52" actId="20577"/>
        <pc:sldMkLst>
          <pc:docMk/>
          <pc:sldMk cId="1756583430" sldId="288"/>
        </pc:sldMkLst>
        <pc:spChg chg="mod">
          <ac:chgData name="Palak Upadhyay" userId="3449b0803ca9fcfd" providerId="LiveId" clId="{F290F986-CB76-4FDB-A1ED-07B1836FC1BC}" dt="2026-05-05T18:13:39.405" v="52" actId="20577"/>
          <ac:spMkLst>
            <pc:docMk/>
            <pc:sldMk cId="1756583430" sldId="288"/>
            <ac:spMk id="2" creationId="{D84F67BD-8ABF-CB58-C497-B759013ACAC7}"/>
          </ac:spMkLst>
        </pc:spChg>
      </pc:sldChg>
      <pc:sldChg chg="modSp mod">
        <pc:chgData name="Palak Upadhyay" userId="3449b0803ca9fcfd" providerId="LiveId" clId="{F290F986-CB76-4FDB-A1ED-07B1836FC1BC}" dt="2026-05-05T18:13:33.535" v="30" actId="20577"/>
        <pc:sldMkLst>
          <pc:docMk/>
          <pc:sldMk cId="3645068743" sldId="290"/>
        </pc:sldMkLst>
        <pc:spChg chg="mod">
          <ac:chgData name="Palak Upadhyay" userId="3449b0803ca9fcfd" providerId="LiveId" clId="{F290F986-CB76-4FDB-A1ED-07B1836FC1BC}" dt="2026-05-05T18:13:33.535" v="30" actId="20577"/>
          <ac:spMkLst>
            <pc:docMk/>
            <pc:sldMk cId="3645068743" sldId="290"/>
            <ac:spMk id="2" creationId="{1DE2CCFE-28C1-9109-9874-9F6D5B3804D4}"/>
          </ac:spMkLst>
        </pc:spChg>
      </pc:sldChg>
      <pc:sldChg chg="modSp mod">
        <pc:chgData name="Palak Upadhyay" userId="3449b0803ca9fcfd" providerId="LiveId" clId="{F290F986-CB76-4FDB-A1ED-07B1836FC1BC}" dt="2026-05-05T18:13:58.812" v="73" actId="20577"/>
        <pc:sldMkLst>
          <pc:docMk/>
          <pc:sldMk cId="2117276255" sldId="291"/>
        </pc:sldMkLst>
        <pc:spChg chg="mod">
          <ac:chgData name="Palak Upadhyay" userId="3449b0803ca9fcfd" providerId="LiveId" clId="{F290F986-CB76-4FDB-A1ED-07B1836FC1BC}" dt="2026-05-05T18:13:58.812" v="73" actId="20577"/>
          <ac:spMkLst>
            <pc:docMk/>
            <pc:sldMk cId="2117276255" sldId="291"/>
            <ac:spMk id="2" creationId="{B4941BC0-AE15-BBCB-D910-4E9998B94594}"/>
          </ac:spMkLst>
        </pc:spChg>
      </pc:sldChg>
      <pc:sldChg chg="modSp new mod">
        <pc:chgData name="Palak Upadhyay" userId="3449b0803ca9fcfd" providerId="LiveId" clId="{F290F986-CB76-4FDB-A1ED-07B1836FC1BC}" dt="2026-05-05T18:20:46.126" v="249" actId="207"/>
        <pc:sldMkLst>
          <pc:docMk/>
          <pc:sldMk cId="3981045722" sldId="301"/>
        </pc:sldMkLst>
        <pc:spChg chg="mod">
          <ac:chgData name="Palak Upadhyay" userId="3449b0803ca9fcfd" providerId="LiveId" clId="{F290F986-CB76-4FDB-A1ED-07B1836FC1BC}" dt="2026-05-05T18:20:04.777" v="245" actId="1076"/>
          <ac:spMkLst>
            <pc:docMk/>
            <pc:sldMk cId="3981045722" sldId="301"/>
            <ac:spMk id="2" creationId="{DE7543D2-19AC-6395-769B-C004DC22CED0}"/>
          </ac:spMkLst>
        </pc:spChg>
        <pc:spChg chg="mod">
          <ac:chgData name="Palak Upadhyay" userId="3449b0803ca9fcfd" providerId="LiveId" clId="{F290F986-CB76-4FDB-A1ED-07B1836FC1BC}" dt="2026-05-05T18:20:46.126" v="249" actId="207"/>
          <ac:spMkLst>
            <pc:docMk/>
            <pc:sldMk cId="3981045722" sldId="301"/>
            <ac:spMk id="3" creationId="{5FB50870-EA60-84E3-18E0-5C34E47A97CC}"/>
          </ac:spMkLst>
        </pc:spChg>
      </pc:sldChg>
      <pc:sldChg chg="modSp new mod ord">
        <pc:chgData name="Palak Upadhyay" userId="3449b0803ca9fcfd" providerId="LiveId" clId="{F290F986-CB76-4FDB-A1ED-07B1836FC1BC}" dt="2026-05-05T18:33:37.607" v="315" actId="113"/>
        <pc:sldMkLst>
          <pc:docMk/>
          <pc:sldMk cId="1973268717" sldId="302"/>
        </pc:sldMkLst>
        <pc:spChg chg="mod">
          <ac:chgData name="Palak Upadhyay" userId="3449b0803ca9fcfd" providerId="LiveId" clId="{F290F986-CB76-4FDB-A1ED-07B1836FC1BC}" dt="2026-05-05T18:32:31.296" v="298" actId="1076"/>
          <ac:spMkLst>
            <pc:docMk/>
            <pc:sldMk cId="1973268717" sldId="302"/>
            <ac:spMk id="2" creationId="{A222928F-0472-C9B3-E508-55C37CA5E73B}"/>
          </ac:spMkLst>
        </pc:spChg>
        <pc:spChg chg="mod">
          <ac:chgData name="Palak Upadhyay" userId="3449b0803ca9fcfd" providerId="LiveId" clId="{F290F986-CB76-4FDB-A1ED-07B1836FC1BC}" dt="2026-05-05T18:33:37.607" v="315" actId="113"/>
          <ac:spMkLst>
            <pc:docMk/>
            <pc:sldMk cId="1973268717" sldId="302"/>
            <ac:spMk id="3" creationId="{8756F2AA-D737-53CC-B36C-D87AAD6C19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1482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34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36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839788" y="7478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37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38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39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40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41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body" idx="1"/>
          </p:nvPr>
        </p:nvSpPr>
        <p:spPr>
          <a:xfrm rot="5400000">
            <a:off x="4264182" y="-1130089"/>
            <a:ext cx="4058682" cy="1091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42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>
            <a:spLocks noGrp="1"/>
          </p:cNvSpPr>
          <p:nvPr>
            <p:ph type="title"/>
          </p:nvPr>
        </p:nvSpPr>
        <p:spPr>
          <a:xfrm rot="5400000">
            <a:off x="7446169" y="2269331"/>
            <a:ext cx="518636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body" idx="1"/>
          </p:nvPr>
        </p:nvSpPr>
        <p:spPr>
          <a:xfrm rot="5400000">
            <a:off x="2112169" y="-283368"/>
            <a:ext cx="51863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" name="Google Shape;95;p43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32" descr="Top Private University in India | MBA, BBA, B.Tech ...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2"/>
          <p:cNvPicPr preferRelativeResize="0"/>
          <p:nvPr/>
        </p:nvPicPr>
        <p:blipFill rotWithShape="1">
          <a:blip r:embed="rId13">
            <a:alphaModFix amt="7000"/>
          </a:blip>
          <a:srcRect/>
          <a:stretch/>
        </p:blipFill>
        <p:spPr>
          <a:xfrm>
            <a:off x="1236794" y="2297668"/>
            <a:ext cx="9718411" cy="27211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1524000" y="1528987"/>
            <a:ext cx="9144000" cy="19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School of Computer Science and Engineering</a:t>
            </a:r>
            <a:b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 (CSE) 4 Semester</a:t>
            </a:r>
            <a:endParaRPr sz="4400" dirty="0"/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7162800" y="5245780"/>
            <a:ext cx="4857206" cy="140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Team Members- Palak Upadhyay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Ayush Kumar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Ayush Arnav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Atharva Chavan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Daksh Vashishth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1;p1">
            <a:extLst>
              <a:ext uri="{FF2B5EF4-FFF2-40B4-BE49-F238E27FC236}">
                <a16:creationId xmlns:a16="http://schemas.microsoft.com/office/drawing/2014/main" id="{E37BDA01-9BA1-49D2-E85A-665FAC52F8D1}"/>
              </a:ext>
            </a:extLst>
          </p:cNvPr>
          <p:cNvSpPr txBox="1">
            <a:spLocks/>
          </p:cNvSpPr>
          <p:nvPr/>
        </p:nvSpPr>
        <p:spPr>
          <a:xfrm>
            <a:off x="620486" y="3580266"/>
            <a:ext cx="11179628" cy="140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ID- BTP2CSE269</a:t>
            </a:r>
          </a:p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Title- </a:t>
            </a:r>
            <a:r>
              <a:rPr lang="en-US" b="1" dirty="0">
                <a:solidFill>
                  <a:srgbClr val="FF0000"/>
                </a:solidFill>
              </a:rPr>
              <a:t>File Integrity Monitoring System Using Cryptographic Hashing</a:t>
            </a:r>
            <a:endParaRPr lang="en-US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1;p1">
            <a:extLst>
              <a:ext uri="{FF2B5EF4-FFF2-40B4-BE49-F238E27FC236}">
                <a16:creationId xmlns:a16="http://schemas.microsoft.com/office/drawing/2014/main" id="{8632F2FA-5002-1972-BD5C-63AEA08FCA2A}"/>
              </a:ext>
            </a:extLst>
          </p:cNvPr>
          <p:cNvSpPr txBox="1">
            <a:spLocks/>
          </p:cNvSpPr>
          <p:nvPr/>
        </p:nvSpPr>
        <p:spPr>
          <a:xfrm>
            <a:off x="3853543" y="453794"/>
            <a:ext cx="3931920" cy="94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b="1" dirty="0">
                <a:solidFill>
                  <a:srgbClr val="9E0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 ETE viva voce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E3B5-AFF1-7E18-EBB0-D9651601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8069"/>
            <a:ext cx="10914195" cy="1325563"/>
          </a:xfrm>
        </p:spPr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DFCAB-192B-62F7-2311-61B2E0260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8031" y="1834574"/>
            <a:ext cx="10914195" cy="4598309"/>
          </a:xfrm>
        </p:spPr>
        <p:txBody>
          <a:bodyPr>
            <a:normAutofit/>
          </a:bodyPr>
          <a:lstStyle/>
          <a:p>
            <a:r>
              <a:rPr lang="en-US" dirty="0"/>
              <a:t>In the digital era, protecting data and ensuring file security and integrity is extremely important to reduce cyber threats and unauthorized modifications that make data vulnerable. </a:t>
            </a:r>
          </a:p>
          <a:p>
            <a:r>
              <a:rPr lang="en-US" dirty="0"/>
              <a:t>Unauthorized file changes can lead to: </a:t>
            </a:r>
          </a:p>
          <a:p>
            <a:pPr lvl="1"/>
            <a:r>
              <a:rPr lang="en-US" dirty="0"/>
              <a:t>Data breaches </a:t>
            </a:r>
          </a:p>
          <a:p>
            <a:pPr lvl="1"/>
            <a:r>
              <a:rPr lang="en-US" dirty="0"/>
              <a:t>Financial loss (for individuals and organizations) </a:t>
            </a:r>
          </a:p>
          <a:p>
            <a:pPr lvl="1"/>
            <a:r>
              <a:rPr lang="en-US" dirty="0"/>
              <a:t>System failures </a:t>
            </a:r>
          </a:p>
          <a:p>
            <a:pPr marL="571500" lvl="1" indent="0">
              <a:buNone/>
            </a:pPr>
            <a:r>
              <a:rPr lang="en-US" dirty="0"/>
              <a:t>This system ensures file security by detecting any unauthorized changes by generating a unique hash value for each function. Even the smallest modification in a file results in a different hash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518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67BD-8ABF-CB58-C497-B759013A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59"/>
            <a:ext cx="10914195" cy="1365009"/>
          </a:xfrm>
        </p:spPr>
        <p:txBody>
          <a:bodyPr/>
          <a:lstStyle/>
          <a:p>
            <a:r>
              <a:rPr lang="en-US" dirty="0"/>
              <a:t>                      INTRODUCTION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C437C-97FA-811E-9652-EF8EAD678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8" y="1668379"/>
            <a:ext cx="10914195" cy="506930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&amp; files are most valuable assets; unauthorized modifications occur due to </a:t>
            </a:r>
            <a:r>
              <a:rPr lang="en-US" b="1" dirty="0"/>
              <a:t>cyberattacks, malware, or insider threats</a:t>
            </a:r>
            <a:endParaRPr lang="en-US" dirty="0"/>
          </a:p>
          <a:p>
            <a:r>
              <a:rPr lang="en-US" dirty="0"/>
              <a:t>Data integrity is crucial to prevent unauthorized, illegal, or accidental changes that can lead to system vulnerabilities. </a:t>
            </a:r>
          </a:p>
          <a:p>
            <a:r>
              <a:rPr lang="en-US" dirty="0"/>
              <a:t>Unauthorized file modification, deletion, or updates can compromise data trustworthiness and cause serious damage if undetected. </a:t>
            </a:r>
          </a:p>
          <a:p>
            <a:r>
              <a:rPr lang="en-US" b="1" dirty="0"/>
              <a:t>File Integrity Monitoring (FIM) </a:t>
            </a:r>
            <a:r>
              <a:rPr lang="en-US" dirty="0"/>
              <a:t>continuously tracks files, folders, and system settings to detect any suspicious or unauthorized changes. </a:t>
            </a:r>
          </a:p>
          <a:p>
            <a:r>
              <a:rPr lang="en-US" dirty="0"/>
              <a:t>The system uses </a:t>
            </a:r>
            <a:r>
              <a:rPr lang="en-US" b="1" dirty="0"/>
              <a:t>cryptographic hashing</a:t>
            </a:r>
            <a:r>
              <a:rPr lang="en-US" dirty="0"/>
              <a:t> to generate a unique digital fingerprint for each file, making even small changes detectable. </a:t>
            </a:r>
          </a:p>
          <a:p>
            <a:r>
              <a:rPr lang="en-US" dirty="0"/>
              <a:t>Automated monitoring reduces manual effort, improves efficiency, and strengthens overall data security for individuals and organizations.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58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4322C9-2A01-190B-43ED-EA43170EC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116" y="1187116"/>
            <a:ext cx="10218820" cy="520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88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2CCFE-28C1-9109-9874-9F6D5B38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LITERATURE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A3310-CD24-DCC2-D51D-7F7BFDA83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8" y="2024951"/>
            <a:ext cx="10914195" cy="483304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Cryptographic hashing (MD5, SHA-1, SHA-256, SHA-512, SHA-3) is widely used to ensure file integrity by detecting even the smallest data changes</a:t>
            </a:r>
            <a:r>
              <a:rPr lang="en-US" b="1" dirty="0"/>
              <a:t> (we use SHA-256). </a:t>
            </a:r>
          </a:p>
          <a:p>
            <a:r>
              <a:rPr lang="en-US" dirty="0"/>
              <a:t>Early research (Schneier et al., 1996) highlighted the importance of hashing for </a:t>
            </a:r>
            <a:r>
              <a:rPr lang="en-US" b="1" dirty="0"/>
              <a:t>maintaining data authenticity and integrity</a:t>
            </a:r>
            <a:r>
              <a:rPr lang="en-US" dirty="0"/>
              <a:t>. </a:t>
            </a:r>
          </a:p>
          <a:p>
            <a:r>
              <a:rPr lang="en-US" dirty="0"/>
              <a:t>Recent studies (Kim et al., 2020) show that combining hashing with real-time alert systems improves </a:t>
            </a:r>
            <a:r>
              <a:rPr lang="en-US" b="1" dirty="0"/>
              <a:t>intrusion detection efficiency</a:t>
            </a:r>
            <a:r>
              <a:rPr lang="en-US" dirty="0"/>
              <a:t>. </a:t>
            </a:r>
          </a:p>
          <a:p>
            <a:r>
              <a:rPr lang="en-US" dirty="0"/>
              <a:t>Advanced approaches include the use of AI/ML and blockchain to enhance security, reduce false positives, and create immutable records. </a:t>
            </a:r>
          </a:p>
          <a:p>
            <a:r>
              <a:rPr lang="en-US" dirty="0"/>
              <a:t>Challenges still exist such as hash storage security, computational overhead, and advanced cyberattacks, requiring continuous improvement. </a:t>
            </a:r>
          </a:p>
          <a:p>
            <a:r>
              <a:rPr lang="en-US" dirty="0"/>
              <a:t>This project takes inspiration from all of the above and builds a </a:t>
            </a:r>
            <a:r>
              <a:rPr lang="en-US" b="1" dirty="0"/>
              <a:t>simpler, Python-based solution</a:t>
            </a:r>
            <a:r>
              <a:rPr lang="en-US" dirty="0"/>
              <a:t> that is easy to use, flexible, and ready for real-world application.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068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7F45F-95EE-AD7E-F14A-960B6075E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12" y="1447523"/>
            <a:ext cx="6163535" cy="3962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1661E-4E65-8CC2-2FD8-ADE69DF9AAD0}"/>
              </a:ext>
            </a:extLst>
          </p:cNvPr>
          <p:cNvSpPr txBox="1"/>
          <p:nvPr/>
        </p:nvSpPr>
        <p:spPr>
          <a:xfrm>
            <a:off x="4345858" y="557831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Flowchart of </a:t>
            </a:r>
            <a:r>
              <a:rPr lang="en-US" b="1" dirty="0"/>
              <a:t>File Integrity Monitoring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690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1BC0-AE15-BBCB-D910-4E9998B9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IMPLEMENTATION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619EB-B947-2969-455D-4BE4C300C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8" y="2024952"/>
            <a:ext cx="10914195" cy="4391890"/>
          </a:xfrm>
        </p:spPr>
        <p:txBody>
          <a:bodyPr>
            <a:normAutofit/>
          </a:bodyPr>
          <a:lstStyle/>
          <a:p>
            <a:r>
              <a:rPr lang="en-US" b="1" dirty="0"/>
              <a:t>Technology Used</a:t>
            </a:r>
          </a:p>
          <a:p>
            <a:r>
              <a:rPr lang="en-US" dirty="0"/>
              <a:t>Programming Language: Python </a:t>
            </a:r>
          </a:p>
          <a:p>
            <a:r>
              <a:rPr lang="en-US" dirty="0"/>
              <a:t>Library Used: </a:t>
            </a:r>
            <a:r>
              <a:rPr lang="en-US" dirty="0" err="1"/>
              <a:t>hashlib</a:t>
            </a:r>
            <a:r>
              <a:rPr lang="en-US" dirty="0"/>
              <a:t> </a:t>
            </a:r>
          </a:p>
          <a:p>
            <a:r>
              <a:rPr lang="en-US" b="1" dirty="0"/>
              <a:t>Core Functionality</a:t>
            </a:r>
          </a:p>
          <a:p>
            <a:r>
              <a:rPr lang="en-US" dirty="0"/>
              <a:t>Generates SHA-256 hash for each file </a:t>
            </a:r>
          </a:p>
          <a:p>
            <a:r>
              <a:rPr lang="en-US" dirty="0"/>
              <a:t>Reads file in chunks (efficient for large files) </a:t>
            </a:r>
          </a:p>
          <a:p>
            <a:r>
              <a:rPr lang="en-US" dirty="0"/>
              <a:t>Stores hash in hashes.txt </a:t>
            </a:r>
          </a:p>
          <a:p>
            <a:r>
              <a:rPr lang="en-US" dirty="0"/>
              <a:t>Compares current hash with stored hash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27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F38B77-A7F3-1AC4-F23D-6E041B15D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37" y="1331495"/>
            <a:ext cx="8582526" cy="478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7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B468-A329-7624-807C-092675E5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Snippet (Key Logic)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D373A-9094-5CE2-29EA-578628085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8" y="2121205"/>
            <a:ext cx="10914195" cy="4375848"/>
          </a:xfrm>
        </p:spPr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hashlib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def </a:t>
            </a:r>
            <a:r>
              <a:rPr lang="en-IN" dirty="0" err="1"/>
              <a:t>calculate_hash</a:t>
            </a:r>
            <a:r>
              <a:rPr lang="en-IN" dirty="0"/>
              <a:t>(</a:t>
            </a:r>
            <a:r>
              <a:rPr lang="en-IN" dirty="0" err="1"/>
              <a:t>file_path</a:t>
            </a:r>
            <a:r>
              <a:rPr lang="en-IN" dirty="0"/>
              <a:t>):</a:t>
            </a:r>
            <a:br>
              <a:rPr lang="en-IN" dirty="0"/>
            </a:br>
            <a:r>
              <a:rPr lang="en-IN" dirty="0"/>
              <a:t>      sha256 = hashlib.sha256()</a:t>
            </a:r>
            <a:br>
              <a:rPr lang="en-IN" dirty="0"/>
            </a:br>
            <a:r>
              <a:rPr lang="en-IN" dirty="0"/>
              <a:t>      with open(</a:t>
            </a:r>
            <a:r>
              <a:rPr lang="en-IN" dirty="0" err="1"/>
              <a:t>file_path</a:t>
            </a:r>
            <a:r>
              <a:rPr lang="en-IN" dirty="0"/>
              <a:t>, '</a:t>
            </a:r>
            <a:r>
              <a:rPr lang="en-IN" dirty="0" err="1"/>
              <a:t>rb</a:t>
            </a:r>
            <a:r>
              <a:rPr lang="en-IN" dirty="0"/>
              <a:t>') as file:</a:t>
            </a:r>
            <a:br>
              <a:rPr lang="en-IN" dirty="0"/>
            </a:br>
            <a:r>
              <a:rPr lang="en-IN" dirty="0"/>
              <a:t>             while chunk := </a:t>
            </a:r>
            <a:r>
              <a:rPr lang="en-IN" dirty="0" err="1"/>
              <a:t>file.read</a:t>
            </a:r>
            <a:r>
              <a:rPr lang="en-IN" dirty="0"/>
              <a:t>(1024):</a:t>
            </a:r>
            <a:br>
              <a:rPr lang="en-IN" dirty="0"/>
            </a:br>
            <a:r>
              <a:rPr lang="en-IN" dirty="0"/>
              <a:t>                       sha256.update(chunk)</a:t>
            </a:r>
            <a:br>
              <a:rPr lang="en-IN" dirty="0"/>
            </a:br>
            <a:r>
              <a:rPr lang="en-IN" dirty="0"/>
              <a:t>return sha256.hexdigest()</a:t>
            </a:r>
          </a:p>
        </p:txBody>
      </p:sp>
    </p:spTree>
    <p:extLst>
      <p:ext uri="{BB962C8B-B14F-4D97-AF65-F5344CB8AC3E}">
        <p14:creationId xmlns:p14="http://schemas.microsoft.com/office/powerpoint/2010/main" val="1241931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C24A-9861-DE18-A4B4-D1FBC8FF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 Logic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8D941-2EA3-255E-61C9-6FC0CFB33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425" y="2037347"/>
            <a:ext cx="10914195" cy="4319003"/>
          </a:xfrm>
        </p:spPr>
        <p:txBody>
          <a:bodyPr/>
          <a:lstStyle/>
          <a:p>
            <a:r>
              <a:rPr lang="en-US" dirty="0"/>
              <a:t>User inputs file path </a:t>
            </a:r>
          </a:p>
          <a:p>
            <a:r>
              <a:rPr lang="en-US" dirty="0"/>
              <a:t>System checks file existence </a:t>
            </a:r>
          </a:p>
          <a:p>
            <a:r>
              <a:rPr lang="en-US" dirty="0"/>
              <a:t>Generates new hash </a:t>
            </a:r>
          </a:p>
          <a:p>
            <a:r>
              <a:rPr lang="en-US" dirty="0"/>
              <a:t>Loads old hash from file </a:t>
            </a:r>
          </a:p>
          <a:p>
            <a:r>
              <a:rPr lang="en-US" dirty="0"/>
              <a:t>Compares both values </a:t>
            </a:r>
          </a:p>
          <a:p>
            <a:r>
              <a:rPr lang="en-US" dirty="0"/>
              <a:t>Displays result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547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1ABB29-6B60-C9BC-9758-29DE48411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94" y="1209775"/>
            <a:ext cx="10443411" cy="456538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C2B7380-E295-7229-946F-459C255D5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flowchart diagram for implementation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820782-81A3-3DC4-7C73-8E7F77A2C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013" y="61697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flowchart diagram for implementation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A962C4-F07F-0794-9948-562FC2E59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183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305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59392-C232-A90D-F393-D66419ED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AB237-CB0C-CA3B-D464-9176DBA94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8" y="2258222"/>
            <a:ext cx="10914195" cy="4058682"/>
          </a:xfrm>
        </p:spPr>
        <p:txBody>
          <a:bodyPr>
            <a:normAutofit/>
          </a:bodyPr>
          <a:lstStyle/>
          <a:p>
            <a:r>
              <a:rPr lang="en-US" b="1" dirty="0"/>
              <a:t>Test Results</a:t>
            </a:r>
          </a:p>
          <a:p>
            <a:r>
              <a:rPr lang="en-US" dirty="0"/>
              <a:t>No change in file → ✅ File is SAFE </a:t>
            </a:r>
          </a:p>
          <a:p>
            <a:r>
              <a:rPr lang="en-US" dirty="0"/>
              <a:t>After modification → ⚠️ WARNING: File MODIFIED </a:t>
            </a:r>
          </a:p>
          <a:p>
            <a:r>
              <a:rPr lang="en-US" dirty="0"/>
              <a:t>New file → Hash stored successfully </a:t>
            </a:r>
          </a:p>
          <a:p>
            <a:r>
              <a:rPr lang="en-US" b="1" dirty="0"/>
              <a:t>System Output</a:t>
            </a:r>
          </a:p>
          <a:p>
            <a:r>
              <a:rPr lang="en-US" dirty="0"/>
              <a:t>Successfully generated hash values for input files </a:t>
            </a:r>
          </a:p>
          <a:p>
            <a:r>
              <a:rPr lang="en-US" dirty="0"/>
              <a:t>Detected file status accurately (Safe / Modified)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496C81-5A46-5347-B6C7-0FF173439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356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487F0E-CE90-7835-EE33-08CB4B08D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1557076"/>
            <a:ext cx="10154652" cy="439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928F-0472-C9B3-E508-55C37CA5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25" y="692027"/>
            <a:ext cx="10914195" cy="1325563"/>
          </a:xfrm>
        </p:spPr>
        <p:txBody>
          <a:bodyPr/>
          <a:lstStyle/>
          <a:p>
            <a:r>
              <a:rPr lang="en-US" dirty="0"/>
              <a:t>                     CONCLUSION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6F2AA-D737-53CC-B36C-D87AAD6C1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902" y="1816404"/>
            <a:ext cx="10914195" cy="48410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project demonstrates that a simple File Integrity Monitoring System can </a:t>
            </a:r>
            <a:r>
              <a:rPr lang="en-US" b="1" dirty="0"/>
              <a:t>effectively enhance data security</a:t>
            </a:r>
            <a:r>
              <a:rPr lang="en-US" dirty="0"/>
              <a:t>.</a:t>
            </a:r>
          </a:p>
          <a:p>
            <a:r>
              <a:rPr lang="en-US" dirty="0"/>
              <a:t>It uses </a:t>
            </a:r>
            <a:r>
              <a:rPr lang="en-US" b="1" dirty="0"/>
              <a:t>cryptographic hashing </a:t>
            </a:r>
            <a:r>
              <a:rPr lang="en-US" dirty="0"/>
              <a:t>to accurately detect even minor     unauthorized file changes. </a:t>
            </a:r>
          </a:p>
          <a:p>
            <a:r>
              <a:rPr lang="en-US" dirty="0"/>
              <a:t>The system successfully identifies file creation, modification, and deletion without generating false alerts. </a:t>
            </a:r>
          </a:p>
          <a:p>
            <a:r>
              <a:rPr lang="en-US" dirty="0"/>
              <a:t>It is lightweight, efficient, and easy to implement using Python.</a:t>
            </a:r>
          </a:p>
          <a:p>
            <a:r>
              <a:rPr lang="en-US" dirty="0"/>
              <a:t>However, it only </a:t>
            </a:r>
            <a:r>
              <a:rPr lang="en-US" b="1" dirty="0"/>
              <a:t>detects changes </a:t>
            </a:r>
            <a:r>
              <a:rPr lang="en-US" dirty="0"/>
              <a:t>after they occur and </a:t>
            </a:r>
            <a:r>
              <a:rPr lang="en-US" b="1" dirty="0"/>
              <a:t>does not prevent them.</a:t>
            </a:r>
          </a:p>
          <a:p>
            <a:r>
              <a:rPr lang="en-US" dirty="0"/>
              <a:t>Despite this limitation, it is a valuable monitoring tool that </a:t>
            </a:r>
            <a:r>
              <a:rPr lang="en-US" b="1" dirty="0"/>
              <a:t>improves security </a:t>
            </a:r>
            <a:r>
              <a:rPr lang="en-US" dirty="0"/>
              <a:t>through timely alerts and 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268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9873-177F-B984-7720-B44491EA3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PAPER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8B56D-7B60-EFAC-ED9E-C18CCF01B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D37C0-15A0-37D3-F9CD-14C0397345E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b="1" dirty="0"/>
              <a:t>🔹 Problem</a:t>
            </a:r>
          </a:p>
          <a:p>
            <a:r>
              <a:rPr lang="en-IN" dirty="0"/>
              <a:t>Unauthorized file modification </a:t>
            </a:r>
          </a:p>
          <a:p>
            <a:r>
              <a:rPr lang="en-IN" dirty="0"/>
              <a:t>Risk to data integrity &amp; security </a:t>
            </a:r>
          </a:p>
          <a:p>
            <a:pPr marL="114300" indent="0">
              <a:buNone/>
            </a:pPr>
            <a:r>
              <a:rPr lang="en-IN" b="1" dirty="0"/>
              <a:t>🔹 Proposed Solution</a:t>
            </a:r>
          </a:p>
          <a:p>
            <a:r>
              <a:rPr lang="en-IN" dirty="0"/>
              <a:t>File Integrity Monitoring System (FIMS) </a:t>
            </a:r>
          </a:p>
          <a:p>
            <a:r>
              <a:rPr lang="en-IN" dirty="0"/>
              <a:t>Uses cryptographic hashing </a:t>
            </a:r>
          </a:p>
          <a:p>
            <a:pPr marL="114300" indent="0">
              <a:buNone/>
            </a:pPr>
            <a:r>
              <a:rPr lang="en-IN" b="1" dirty="0"/>
              <a:t>🔹 Method</a:t>
            </a:r>
          </a:p>
          <a:p>
            <a:r>
              <a:rPr lang="en-IN" dirty="0"/>
              <a:t>Generate baseline hash </a:t>
            </a:r>
          </a:p>
          <a:p>
            <a:r>
              <a:rPr lang="en-IN" dirty="0"/>
              <a:t>Compare with new hash </a:t>
            </a:r>
          </a:p>
          <a:p>
            <a:r>
              <a:rPr lang="en-IN" dirty="0"/>
              <a:t>Detect changes &amp; alert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DFB76-0BF2-645D-7DEB-D73DE249B27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09FF21-053C-80D8-9C96-ABFCF01B219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/>
              <a:t>🔹 Algorithms Used</a:t>
            </a:r>
          </a:p>
          <a:p>
            <a:r>
              <a:rPr lang="en-US" dirty="0"/>
              <a:t>SHA-256  </a:t>
            </a:r>
          </a:p>
          <a:p>
            <a:pPr marL="114300" indent="0">
              <a:buNone/>
            </a:pPr>
            <a:r>
              <a:rPr lang="en-US" b="1" dirty="0"/>
              <a:t>🔹 Key Results</a:t>
            </a:r>
          </a:p>
          <a:p>
            <a:r>
              <a:rPr lang="en-US" dirty="0"/>
              <a:t>Accurate detection </a:t>
            </a:r>
          </a:p>
          <a:p>
            <a:r>
              <a:rPr lang="en-US" dirty="0"/>
              <a:t>Fast performance </a:t>
            </a:r>
          </a:p>
          <a:p>
            <a:r>
              <a:rPr lang="en-US" dirty="0"/>
              <a:t>Low resource usage </a:t>
            </a:r>
          </a:p>
          <a:p>
            <a:pPr marL="114300" indent="0">
              <a:buNone/>
            </a:pPr>
            <a:r>
              <a:rPr lang="en-US" b="1" dirty="0"/>
              <a:t>🔹 Conclusion</a:t>
            </a:r>
          </a:p>
          <a:p>
            <a:r>
              <a:rPr lang="en-US" dirty="0"/>
              <a:t>Reliable &amp; secure system </a:t>
            </a:r>
          </a:p>
          <a:p>
            <a:r>
              <a:rPr lang="en-US" dirty="0"/>
              <a:t>Useful in real-world applications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149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43D2-19AC-6395-769B-C004DC22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25" y="824504"/>
            <a:ext cx="10914195" cy="1325563"/>
          </a:xfrm>
        </p:spPr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50870-EA60-84E3-18E0-5C34E47A9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425" y="1936955"/>
            <a:ext cx="10914195" cy="471948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International Journal of Scientific Research and Engineering Development– Volume 8 Issue 2, Mar-Apr 2025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1"/>
                </a:solidFill>
              </a:rPr>
              <a:t>Stallings, W. (2017). Cryptography and Network Security: Principles and Practice (7th ed.). Pearson.</a:t>
            </a:r>
          </a:p>
          <a:p>
            <a:r>
              <a:rPr lang="en-US" dirty="0">
                <a:solidFill>
                  <a:schemeClr val="accent1"/>
                </a:solidFill>
              </a:rPr>
              <a:t>PCI Security Standards Council. (2018). Payment Card Industry Data Security Standard (PCI-DSS) v3.2.1. Retrieved from www.pcisecuritystandards.org. </a:t>
            </a:r>
          </a:p>
          <a:p>
            <a:r>
              <a:rPr lang="en-US" dirty="0">
                <a:solidFill>
                  <a:schemeClr val="accent1"/>
                </a:solidFill>
              </a:rPr>
              <a:t>Patel, A., Mehta, R., &amp; Singh, S. (2019). Hybrid Approaches for File Integrity Monitoring in Modern Security Systems. International Journal of Cyber Security, 12(4), 89-105.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im</a:t>
            </a:r>
            <a:r>
              <a:rPr lang="en-US" dirty="0">
                <a:solidFill>
                  <a:schemeClr val="accent1"/>
                </a:solidFill>
              </a:rPr>
              <a:t>, J., Lee, H., &amp; Park, S. (2020). Automated File Integrity Monitoring Systems for Cybersecurity. </a:t>
            </a:r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045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>
            <a:spLocks noGrp="1"/>
          </p:cNvSpPr>
          <p:nvPr>
            <p:ph type="title"/>
          </p:nvPr>
        </p:nvSpPr>
        <p:spPr>
          <a:xfrm>
            <a:off x="651710" y="1704474"/>
            <a:ext cx="10888579" cy="344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00"/>
              <a:buFont typeface="Pinyon Script"/>
              <a:buNone/>
            </a:pPr>
            <a:r>
              <a:rPr lang="en-US" sz="19900" dirty="0">
                <a:latin typeface="Baskerville Old Face" panose="02020602080505020303" pitchFamily="18" charset="0"/>
                <a:ea typeface="Tahoma" panose="020B0604030504040204" pitchFamily="34" charset="0"/>
                <a:cs typeface="Tahoma" panose="020B0604030504040204" pitchFamily="34" charset="0"/>
                <a:sym typeface="Pinyon Script"/>
              </a:rPr>
              <a:t>Thank You</a:t>
            </a:r>
            <a:endParaRPr dirty="0">
              <a:latin typeface="Baskerville Old Face" panose="020206020805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884</Words>
  <Application>Microsoft Office PowerPoint</Application>
  <PresentationFormat>Widescreen</PresentationFormat>
  <Paragraphs>97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Times New Roman</vt:lpstr>
      <vt:lpstr>Pinyon Script</vt:lpstr>
      <vt:lpstr>Baskerville Old Face</vt:lpstr>
      <vt:lpstr>Calibri</vt:lpstr>
      <vt:lpstr>Play</vt:lpstr>
      <vt:lpstr>Arial</vt:lpstr>
      <vt:lpstr>Office Theme</vt:lpstr>
      <vt:lpstr>School of Computer Science and Engineering B.Tech (CSE) 4 Semester</vt:lpstr>
      <vt:lpstr>ABSTRACT</vt:lpstr>
      <vt:lpstr>                      INTRODUCTION </vt:lpstr>
      <vt:lpstr>PowerPoint Presentation</vt:lpstr>
      <vt:lpstr>                        LITERATURE</vt:lpstr>
      <vt:lpstr>PowerPoint Presentation</vt:lpstr>
      <vt:lpstr>                     IMPLEMENTATION</vt:lpstr>
      <vt:lpstr>PowerPoint Presentation</vt:lpstr>
      <vt:lpstr>Code Snippet (Key Logic)</vt:lpstr>
      <vt:lpstr>Working  Logic</vt:lpstr>
      <vt:lpstr>PowerPoint Presentation</vt:lpstr>
      <vt:lpstr>RESULTS</vt:lpstr>
      <vt:lpstr>PowerPoint Presentation</vt:lpstr>
      <vt:lpstr>                     CONCLUSION</vt:lpstr>
      <vt:lpstr>RESEARCH PAPER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Computer Science and Engineering B.Tech (CSE) ….. Semester</dc:title>
  <dc:creator>Anil Saroliya</dc:creator>
  <cp:lastModifiedBy>Palak Upadhyay</cp:lastModifiedBy>
  <cp:revision>4</cp:revision>
  <dcterms:created xsi:type="dcterms:W3CDTF">2025-07-19T19:52:25Z</dcterms:created>
  <dcterms:modified xsi:type="dcterms:W3CDTF">2026-05-05T18:33:39Z</dcterms:modified>
</cp:coreProperties>
</file>