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62EC1-BD06-9CBB-EAAD-D66042ABAD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EFAECD-0C3E-B456-7D88-614B608E52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AAA9C8-BA23-BC42-8D78-229098678D6D}"/>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5" name="Footer Placeholder 4">
            <a:extLst>
              <a:ext uri="{FF2B5EF4-FFF2-40B4-BE49-F238E27FC236}">
                <a16:creationId xmlns:a16="http://schemas.microsoft.com/office/drawing/2014/main" id="{8E2A50CF-D23B-DA3F-6987-ECBC5EE39F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03AC52-F2E9-18A0-63FD-951B2427E87D}"/>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4256800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5AEEF-F4C4-4975-94C0-1A9B1446CB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E89635-E46A-1A9D-1504-7A5174FF92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F3C1F3-DBEA-D9FE-9466-D3AB901BEB30}"/>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5" name="Footer Placeholder 4">
            <a:extLst>
              <a:ext uri="{FF2B5EF4-FFF2-40B4-BE49-F238E27FC236}">
                <a16:creationId xmlns:a16="http://schemas.microsoft.com/office/drawing/2014/main" id="{B495BB91-A266-BF6C-4F26-BC9C4C21D0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413BEB-D038-DABA-342E-E37D5CEAF5AC}"/>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2763963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62D02-B253-B6CF-2565-8D38C8E7F7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34E7A9-7F48-3316-9961-69F600954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4D6DE-BB42-A0FF-562A-4C92C96C9849}"/>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5" name="Footer Placeholder 4">
            <a:extLst>
              <a:ext uri="{FF2B5EF4-FFF2-40B4-BE49-F238E27FC236}">
                <a16:creationId xmlns:a16="http://schemas.microsoft.com/office/drawing/2014/main" id="{3C46BAD3-67A4-EDD4-C19A-5F535EFC2E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E5B47B-85AA-F219-E716-CDA83E7DC6C4}"/>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4270586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0DF47-BCF5-A29E-087A-5F6BB2070C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27005D-FFCA-9D17-1767-60C601C2AC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F87892-5542-3955-C913-B8C6839E46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9FCB74E-B7D5-B4AA-DFD5-89083BC197CD}"/>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6" name="Footer Placeholder 5">
            <a:extLst>
              <a:ext uri="{FF2B5EF4-FFF2-40B4-BE49-F238E27FC236}">
                <a16:creationId xmlns:a16="http://schemas.microsoft.com/office/drawing/2014/main" id="{794D3457-5FD3-301D-3D13-0ACB581271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F0DE65-1701-99FE-6F7A-47A323221293}"/>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2712420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2A5A4-CE05-7649-E969-437C316A2D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A6F23A-5D8A-513D-D590-192BD359AD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B79758-920F-B307-A597-7D1EB86EFF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7FA063C-B2D3-C581-B617-4DA79F008C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AC1DA7-46B2-8965-C1EA-BDB4083415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EC5F9A-2C95-C2B1-A2D6-B67730C74F77}"/>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8" name="Footer Placeholder 7">
            <a:extLst>
              <a:ext uri="{FF2B5EF4-FFF2-40B4-BE49-F238E27FC236}">
                <a16:creationId xmlns:a16="http://schemas.microsoft.com/office/drawing/2014/main" id="{AAEE631B-898E-36E9-F3B7-0CA11B76A2B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D7425E6-31FE-6D6A-D140-1C36DC24FF44}"/>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131174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10067-0AAA-A2BA-CFA9-2135BEEC21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EE20A1-5213-0F4B-3D5B-CF334022B10D}"/>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4" name="Footer Placeholder 3">
            <a:extLst>
              <a:ext uri="{FF2B5EF4-FFF2-40B4-BE49-F238E27FC236}">
                <a16:creationId xmlns:a16="http://schemas.microsoft.com/office/drawing/2014/main" id="{6D8D052E-5C67-B538-A0B7-B9FC9826710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E52DDA-CA9F-FCEE-8681-1B720D2A84B6}"/>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2757656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836887-C7F2-9293-9AE7-152A858ACB1B}"/>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3" name="Footer Placeholder 2">
            <a:extLst>
              <a:ext uri="{FF2B5EF4-FFF2-40B4-BE49-F238E27FC236}">
                <a16:creationId xmlns:a16="http://schemas.microsoft.com/office/drawing/2014/main" id="{9AF28130-49E5-B835-E016-A4A86D9CD21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7A8B2A-145C-5E1F-0119-9F4C1BDF8013}"/>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3132152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EE87A-E202-7CB8-CE98-CA303D0ADD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063553-F052-792B-6543-9F2BF36B5D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02A191-7201-7E24-36AD-0352A3E61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838B21-26FC-EC94-1DF3-C1DFF65864A5}"/>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6" name="Footer Placeholder 5">
            <a:extLst>
              <a:ext uri="{FF2B5EF4-FFF2-40B4-BE49-F238E27FC236}">
                <a16:creationId xmlns:a16="http://schemas.microsoft.com/office/drawing/2014/main" id="{617EAE37-F290-3F54-201A-1C5560CCB7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BAD245-EB99-DBAE-EC09-691295FE238B}"/>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4003000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42A14-78F6-EDFB-3788-09369B030D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A805F3E-E186-E38F-4566-47609919AC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6F34C0F-2917-25A1-211F-C5AFAEB06D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F0A8F4-0468-6E74-5B63-72BD09060993}"/>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6" name="Footer Placeholder 5">
            <a:extLst>
              <a:ext uri="{FF2B5EF4-FFF2-40B4-BE49-F238E27FC236}">
                <a16:creationId xmlns:a16="http://schemas.microsoft.com/office/drawing/2014/main" id="{4F622261-ED25-7373-4413-6F5E5FCFF7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183B9B-81F1-8D02-757F-210E8D86C1BA}"/>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3627251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3D70E-EE34-5369-3883-EB6BA8031C7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E9A684-CE62-49CB-8E6C-2A01DA41DC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5A0D3E-4D80-4691-1768-52FB5D644D24}"/>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5" name="Footer Placeholder 4">
            <a:extLst>
              <a:ext uri="{FF2B5EF4-FFF2-40B4-BE49-F238E27FC236}">
                <a16:creationId xmlns:a16="http://schemas.microsoft.com/office/drawing/2014/main" id="{1655C3A9-D5FF-B24D-2DE1-BC902214D9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AE3413-E53F-6A34-10F6-5C61195A9087}"/>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4130825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69E73-60CF-575A-0E57-910FC7E835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415469-FA77-E127-D2D2-9E9B339B79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BC9ACC-FCFA-44F2-FF05-02ED752DA527}"/>
              </a:ext>
            </a:extLst>
          </p:cNvPr>
          <p:cNvSpPr>
            <a:spLocks noGrp="1"/>
          </p:cNvSpPr>
          <p:nvPr>
            <p:ph type="dt" sz="half" idx="10"/>
          </p:nvPr>
        </p:nvSpPr>
        <p:spPr/>
        <p:txBody>
          <a:bodyPr/>
          <a:lstStyle/>
          <a:p>
            <a:fld id="{B5D836AC-8787-41BF-9F49-78A15D598F2A}" type="datetimeFigureOut">
              <a:rPr lang="en-IN" smtClean="0"/>
              <a:t>30-03-2026</a:t>
            </a:fld>
            <a:endParaRPr lang="en-IN"/>
          </a:p>
        </p:txBody>
      </p:sp>
      <p:sp>
        <p:nvSpPr>
          <p:cNvPr id="5" name="Footer Placeholder 4">
            <a:extLst>
              <a:ext uri="{FF2B5EF4-FFF2-40B4-BE49-F238E27FC236}">
                <a16:creationId xmlns:a16="http://schemas.microsoft.com/office/drawing/2014/main" id="{4BC39719-E5A5-E2A8-419F-A7286EDCDE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7382CE-3181-F689-A5B5-5DD7DDD0C563}"/>
              </a:ext>
            </a:extLst>
          </p:cNvPr>
          <p:cNvSpPr>
            <a:spLocks noGrp="1"/>
          </p:cNvSpPr>
          <p:nvPr>
            <p:ph type="sldNum" sz="quarter" idx="12"/>
          </p:nvPr>
        </p:nvSpPr>
        <p:spPr/>
        <p:txBody>
          <a:bodyPr/>
          <a:lstStyle/>
          <a:p>
            <a:fld id="{93584CC3-E315-474C-BDBC-346520F853BC}" type="slidenum">
              <a:rPr lang="en-IN" smtClean="0"/>
              <a:t>‹#›</a:t>
            </a:fld>
            <a:endParaRPr lang="en-IN"/>
          </a:p>
        </p:txBody>
      </p:sp>
    </p:spTree>
    <p:extLst>
      <p:ext uri="{BB962C8B-B14F-4D97-AF65-F5344CB8AC3E}">
        <p14:creationId xmlns:p14="http://schemas.microsoft.com/office/powerpoint/2010/main" val="718265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F20AF9-DB45-592E-4B76-544D37C4DC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E0A68A-E784-7956-29A0-5654A1EC1D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6D6223-ECE3-EF46-2532-2C0B2CAEC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D836AC-8787-41BF-9F49-78A15D598F2A}" type="datetimeFigureOut">
              <a:rPr lang="en-IN" smtClean="0"/>
              <a:t>30-03-2026</a:t>
            </a:fld>
            <a:endParaRPr lang="en-IN"/>
          </a:p>
        </p:txBody>
      </p:sp>
      <p:sp>
        <p:nvSpPr>
          <p:cNvPr id="5" name="Footer Placeholder 4">
            <a:extLst>
              <a:ext uri="{FF2B5EF4-FFF2-40B4-BE49-F238E27FC236}">
                <a16:creationId xmlns:a16="http://schemas.microsoft.com/office/drawing/2014/main" id="{0219095C-E42C-A6D2-D5D1-4614C52802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57C3221-4535-B63A-2A5C-B7257B5CB9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584CC3-E315-474C-BDBC-346520F853BC}" type="slidenum">
              <a:rPr lang="en-IN" smtClean="0"/>
              <a:t>‹#›</a:t>
            </a:fld>
            <a:endParaRPr lang="en-IN"/>
          </a:p>
        </p:txBody>
      </p:sp>
    </p:spTree>
    <p:extLst>
      <p:ext uri="{BB962C8B-B14F-4D97-AF65-F5344CB8AC3E}">
        <p14:creationId xmlns:p14="http://schemas.microsoft.com/office/powerpoint/2010/main" val="4172632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journalofemergingtechnologyanddigitaltransformation.com/index.php/3/article/view/111?utm_source=chatgpt.com" TargetMode="External"/><Relationship Id="rId2" Type="http://schemas.openxmlformats.org/officeDocument/2006/relationships/hyperlink" Target="https://ijsred.com/volume8/issue2/IJSRED-V8I2P266.pdf" TargetMode="External"/><Relationship Id="rId1" Type="http://schemas.openxmlformats.org/officeDocument/2006/relationships/slideLayout" Target="../slideLayouts/slideLayout2.xml"/><Relationship Id="rId4" Type="http://schemas.openxmlformats.org/officeDocument/2006/relationships/hyperlink" Target="https://www.researchgate.net/publication/391672060_Exploring_Secure_Hashing_Algorithms_for_Data_Integrity_Verification?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366C7-3DBF-093E-A3F0-4CC69B640B93}"/>
              </a:ext>
            </a:extLst>
          </p:cNvPr>
          <p:cNvSpPr>
            <a:spLocks noGrp="1"/>
          </p:cNvSpPr>
          <p:nvPr>
            <p:ph type="title"/>
          </p:nvPr>
        </p:nvSpPr>
        <p:spPr/>
        <p:txBody>
          <a:bodyPr>
            <a:normAutofit fontScale="90000"/>
          </a:bodyPr>
          <a:lstStyle/>
          <a:p>
            <a:r>
              <a:rPr lang="en-US" b="1" dirty="0"/>
              <a:t>PROJECT NAME </a:t>
            </a:r>
            <a:r>
              <a:rPr lang="en-US" dirty="0"/>
              <a:t>– FILE INTEGIRITY MONITORING SYSTEM USING CRYPTOGRAPHIC HASHING</a:t>
            </a:r>
            <a:endParaRPr lang="en-IN" dirty="0"/>
          </a:p>
        </p:txBody>
      </p:sp>
      <p:sp>
        <p:nvSpPr>
          <p:cNvPr id="3" name="Content Placeholder 2">
            <a:extLst>
              <a:ext uri="{FF2B5EF4-FFF2-40B4-BE49-F238E27FC236}">
                <a16:creationId xmlns:a16="http://schemas.microsoft.com/office/drawing/2014/main" id="{62415A5E-A6AF-D5B5-6A36-3F0E10BD0B46}"/>
              </a:ext>
            </a:extLst>
          </p:cNvPr>
          <p:cNvSpPr>
            <a:spLocks noGrp="1"/>
          </p:cNvSpPr>
          <p:nvPr>
            <p:ph idx="1"/>
          </p:nvPr>
        </p:nvSpPr>
        <p:spPr/>
        <p:txBody>
          <a:bodyPr>
            <a:normAutofit lnSpcReduction="10000"/>
          </a:bodyPr>
          <a:lstStyle/>
          <a:p>
            <a:r>
              <a:rPr lang="en-US" sz="4000" b="1" dirty="0"/>
              <a:t>TEAM MEMEBERS </a:t>
            </a:r>
            <a:r>
              <a:rPr lang="en-US" sz="4000" dirty="0"/>
              <a:t>:</a:t>
            </a:r>
          </a:p>
          <a:p>
            <a:r>
              <a:rPr lang="en-US" sz="4000" dirty="0"/>
              <a:t>PALAK UPADHYAY – 2410031609</a:t>
            </a:r>
          </a:p>
          <a:p>
            <a:r>
              <a:rPr lang="en-US" sz="4000" dirty="0"/>
              <a:t>AYUSH KUMAR – 2410031217</a:t>
            </a:r>
          </a:p>
          <a:p>
            <a:r>
              <a:rPr lang="en-US" sz="4000" dirty="0"/>
              <a:t>DAKSH VASHISHTH – 2410031748</a:t>
            </a:r>
          </a:p>
          <a:p>
            <a:r>
              <a:rPr lang="en-US" sz="4000" dirty="0"/>
              <a:t>AYUSH ARNAV – 2410031533</a:t>
            </a:r>
          </a:p>
          <a:p>
            <a:r>
              <a:rPr lang="en-US" sz="4000" b="1" dirty="0"/>
              <a:t>PRESENTED TO – DR. SAURABH KUMAR</a:t>
            </a:r>
          </a:p>
          <a:p>
            <a:r>
              <a:rPr lang="en-US" sz="4000" b="1" dirty="0"/>
              <a:t>BATCH – 2CSE16</a:t>
            </a:r>
            <a:endParaRPr lang="en-IN" sz="4000" b="1" dirty="0"/>
          </a:p>
        </p:txBody>
      </p:sp>
    </p:spTree>
    <p:extLst>
      <p:ext uri="{BB962C8B-B14F-4D97-AF65-F5344CB8AC3E}">
        <p14:creationId xmlns:p14="http://schemas.microsoft.com/office/powerpoint/2010/main" val="3286208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5F741-D8E5-2B88-1262-AF21D622C2AB}"/>
              </a:ext>
            </a:extLst>
          </p:cNvPr>
          <p:cNvSpPr>
            <a:spLocks noGrp="1"/>
          </p:cNvSpPr>
          <p:nvPr>
            <p:ph type="title"/>
          </p:nvPr>
        </p:nvSpPr>
        <p:spPr/>
        <p:txBody>
          <a:bodyPr/>
          <a:lstStyle/>
          <a:p>
            <a:r>
              <a:rPr lang="en-US" b="1" dirty="0"/>
              <a:t>FILE INTEGRITY SYSTEM USING    CRYPTOGRAPHIC HASHING</a:t>
            </a:r>
            <a:endParaRPr lang="en-IN" b="1" dirty="0"/>
          </a:p>
        </p:txBody>
      </p:sp>
      <p:sp>
        <p:nvSpPr>
          <p:cNvPr id="3" name="Content Placeholder 2">
            <a:extLst>
              <a:ext uri="{FF2B5EF4-FFF2-40B4-BE49-F238E27FC236}">
                <a16:creationId xmlns:a16="http://schemas.microsoft.com/office/drawing/2014/main" id="{576E0439-DA4C-B980-F68B-E61873841B69}"/>
              </a:ext>
            </a:extLst>
          </p:cNvPr>
          <p:cNvSpPr>
            <a:spLocks noGrp="1"/>
          </p:cNvSpPr>
          <p:nvPr>
            <p:ph idx="1"/>
          </p:nvPr>
        </p:nvSpPr>
        <p:spPr/>
        <p:txBody>
          <a:bodyPr>
            <a:normAutofit lnSpcReduction="10000"/>
          </a:bodyPr>
          <a:lstStyle/>
          <a:p>
            <a:pPr marL="0" indent="0">
              <a:buNone/>
            </a:pPr>
            <a:r>
              <a:rPr lang="en-US" sz="4000" dirty="0"/>
              <a:t>1- </a:t>
            </a:r>
            <a:r>
              <a:rPr lang="en-US" sz="4000" b="1" dirty="0"/>
              <a:t>Problem analysis </a:t>
            </a:r>
            <a:r>
              <a:rPr lang="en-US" sz="4000" dirty="0"/>
              <a:t>:</a:t>
            </a:r>
          </a:p>
          <a:p>
            <a:pPr marL="0" indent="0">
              <a:buNone/>
            </a:pPr>
            <a:r>
              <a:rPr lang="en-US" sz="4000" dirty="0"/>
              <a:t>In modern computing environments, digital files are constantly exposed to risks such as unauthorized modification, malware attacks, insider threats, and accidental corruption. Ensuring </a:t>
            </a:r>
            <a:r>
              <a:rPr lang="en-US" sz="4000" b="1" dirty="0"/>
              <a:t>file integrity</a:t>
            </a:r>
            <a:r>
              <a:rPr lang="en-US" sz="4000" dirty="0"/>
              <a:t> — verifying that a file has not been altered — is a fundamental requirement in cybersecurity.</a:t>
            </a:r>
            <a:endParaRPr lang="en-IN" sz="4000" dirty="0"/>
          </a:p>
        </p:txBody>
      </p:sp>
    </p:spTree>
    <p:extLst>
      <p:ext uri="{BB962C8B-B14F-4D97-AF65-F5344CB8AC3E}">
        <p14:creationId xmlns:p14="http://schemas.microsoft.com/office/powerpoint/2010/main" val="148816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9CC7C-E7CA-BD14-EAD4-BF1C6958BA0D}"/>
              </a:ext>
            </a:extLst>
          </p:cNvPr>
          <p:cNvSpPr>
            <a:spLocks noGrp="1"/>
          </p:cNvSpPr>
          <p:nvPr>
            <p:ph type="title"/>
          </p:nvPr>
        </p:nvSpPr>
        <p:spPr/>
        <p:txBody>
          <a:bodyPr>
            <a:normAutofit fontScale="90000"/>
          </a:bodyPr>
          <a:lstStyle/>
          <a:p>
            <a:r>
              <a:rPr lang="en-US" b="1" dirty="0"/>
              <a:t>File integrity monitoring (FIM) systems are widely used in:</a:t>
            </a:r>
            <a:br>
              <a:rPr lang="en-US" dirty="0"/>
            </a:br>
            <a:endParaRPr lang="en-IN" dirty="0"/>
          </a:p>
        </p:txBody>
      </p:sp>
      <p:sp>
        <p:nvSpPr>
          <p:cNvPr id="3" name="Content Placeholder 2">
            <a:extLst>
              <a:ext uri="{FF2B5EF4-FFF2-40B4-BE49-F238E27FC236}">
                <a16:creationId xmlns:a16="http://schemas.microsoft.com/office/drawing/2014/main" id="{C4AA144C-693E-C0B4-7BD9-970920404D93}"/>
              </a:ext>
            </a:extLst>
          </p:cNvPr>
          <p:cNvSpPr>
            <a:spLocks noGrp="1"/>
          </p:cNvSpPr>
          <p:nvPr>
            <p:ph idx="1"/>
          </p:nvPr>
        </p:nvSpPr>
        <p:spPr>
          <a:xfrm>
            <a:off x="838200" y="1392488"/>
            <a:ext cx="10515600" cy="4351338"/>
          </a:xfrm>
        </p:spPr>
        <p:txBody>
          <a:bodyPr>
            <a:normAutofit fontScale="70000" lnSpcReduction="20000"/>
          </a:bodyPr>
          <a:lstStyle/>
          <a:p>
            <a:r>
              <a:rPr lang="en-US" sz="4000" dirty="0"/>
              <a:t>Operating system</a:t>
            </a:r>
          </a:p>
          <a:p>
            <a:r>
              <a:rPr lang="en-US" sz="4000" dirty="0"/>
              <a:t>Financial Institutions</a:t>
            </a:r>
          </a:p>
          <a:p>
            <a:r>
              <a:rPr lang="en-US" sz="4000" dirty="0"/>
              <a:t>Healthcare System</a:t>
            </a:r>
          </a:p>
          <a:p>
            <a:r>
              <a:rPr lang="en-US" sz="4000" dirty="0"/>
              <a:t>Government Databases</a:t>
            </a:r>
          </a:p>
          <a:p>
            <a:r>
              <a:rPr lang="en-US" sz="4000" dirty="0"/>
              <a:t>Cloud storage platform</a:t>
            </a:r>
          </a:p>
          <a:p>
            <a:r>
              <a:rPr lang="en-US" sz="4000" dirty="0"/>
              <a:t>Cryptographic hash functions such as </a:t>
            </a:r>
            <a:r>
              <a:rPr lang="en-US" sz="4000" b="1" dirty="0"/>
              <a:t>MD5</a:t>
            </a:r>
            <a:r>
              <a:rPr lang="en-US" sz="4000" dirty="0"/>
              <a:t>, </a:t>
            </a:r>
            <a:r>
              <a:rPr lang="en-US" sz="4000" b="1" dirty="0"/>
              <a:t>SHA-1</a:t>
            </a:r>
            <a:r>
              <a:rPr lang="en-US" sz="4000" dirty="0"/>
              <a:t>, and </a:t>
            </a:r>
            <a:r>
              <a:rPr lang="en-US" sz="4000" b="1" dirty="0"/>
              <a:t>SHA-256</a:t>
            </a:r>
            <a:r>
              <a:rPr lang="en-US" sz="4000" dirty="0"/>
              <a:t> play a central role in detecting file tampering. A hash function generates a fixed-length digest from file content. If even a single bit changes, the hash value changes significantly, enabling tamper detection.</a:t>
            </a:r>
          </a:p>
          <a:p>
            <a:r>
              <a:rPr lang="en-US" sz="4000" dirty="0"/>
              <a:t>However, existing integrity monitoring solutions face several limitations in security strength, scalability, and real-time performance.</a:t>
            </a:r>
          </a:p>
          <a:p>
            <a:endParaRPr lang="en-IN" sz="4000" dirty="0"/>
          </a:p>
        </p:txBody>
      </p:sp>
    </p:spTree>
    <p:extLst>
      <p:ext uri="{BB962C8B-B14F-4D97-AF65-F5344CB8AC3E}">
        <p14:creationId xmlns:p14="http://schemas.microsoft.com/office/powerpoint/2010/main" val="2886288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C312E-B604-EFD5-1BEF-EBFA1D01C15D}"/>
              </a:ext>
            </a:extLst>
          </p:cNvPr>
          <p:cNvSpPr>
            <a:spLocks noGrp="1"/>
          </p:cNvSpPr>
          <p:nvPr>
            <p:ph type="title"/>
          </p:nvPr>
        </p:nvSpPr>
        <p:spPr/>
        <p:txBody>
          <a:bodyPr/>
          <a:lstStyle/>
          <a:p>
            <a:r>
              <a:rPr lang="en-US" b="1" dirty="0"/>
              <a:t>EXISTING CHALLENGES AND LIMITATIONS</a:t>
            </a:r>
            <a:endParaRPr lang="en-IN" b="1" dirty="0"/>
          </a:p>
        </p:txBody>
      </p:sp>
      <p:sp>
        <p:nvSpPr>
          <p:cNvPr id="3" name="Content Placeholder 2">
            <a:extLst>
              <a:ext uri="{FF2B5EF4-FFF2-40B4-BE49-F238E27FC236}">
                <a16:creationId xmlns:a16="http://schemas.microsoft.com/office/drawing/2014/main" id="{D83D63DC-8EF7-63D3-9958-50273B029B8C}"/>
              </a:ext>
            </a:extLst>
          </p:cNvPr>
          <p:cNvSpPr>
            <a:spLocks noGrp="1"/>
          </p:cNvSpPr>
          <p:nvPr>
            <p:ph idx="1"/>
          </p:nvPr>
        </p:nvSpPr>
        <p:spPr>
          <a:xfrm>
            <a:off x="838199" y="1556084"/>
            <a:ext cx="11161295" cy="4620879"/>
          </a:xfrm>
        </p:spPr>
        <p:txBody>
          <a:bodyPr>
            <a:normAutofit fontScale="62500" lnSpcReduction="20000"/>
          </a:bodyPr>
          <a:lstStyle/>
          <a:p>
            <a:r>
              <a:rPr lang="en-US" sz="4000" dirty="0"/>
              <a:t>Despite widespread use of file integrity tools, several problems remain:</a:t>
            </a:r>
          </a:p>
          <a:p>
            <a:pPr marL="0" indent="0">
              <a:buNone/>
            </a:pPr>
            <a:r>
              <a:rPr lang="en-US" sz="4000" b="1" dirty="0"/>
              <a:t>1. Weak Hash Algorithms</a:t>
            </a:r>
          </a:p>
          <a:p>
            <a:r>
              <a:rPr lang="en-US" sz="4000" b="1" dirty="0"/>
              <a:t>MD5</a:t>
            </a:r>
            <a:r>
              <a:rPr lang="en-US" sz="4000" dirty="0"/>
              <a:t> is vulnerable to collision attacks.</a:t>
            </a:r>
          </a:p>
          <a:p>
            <a:r>
              <a:rPr lang="en-US" sz="4000" b="1" dirty="0"/>
              <a:t>SHA-1</a:t>
            </a:r>
            <a:r>
              <a:rPr lang="en-US" sz="4000" dirty="0"/>
              <a:t> has been proven insecure due to practical collision attacks.</a:t>
            </a:r>
          </a:p>
          <a:p>
            <a:r>
              <a:rPr lang="en-US" sz="4000" dirty="0"/>
              <a:t>Some legacy systems still rely on these weak algorithms.</a:t>
            </a:r>
          </a:p>
          <a:p>
            <a:pPr marL="0" indent="0">
              <a:buNone/>
            </a:pPr>
            <a:r>
              <a:rPr lang="en-US" sz="4000" b="1" dirty="0"/>
              <a:t>2. Baseline Storage Vulnerability</a:t>
            </a:r>
          </a:p>
          <a:p>
            <a:r>
              <a:rPr lang="en-US" sz="4000" dirty="0"/>
              <a:t>Most integrity tools store hash baselines locally. If an attacker compromises the system, they may:</a:t>
            </a:r>
          </a:p>
          <a:p>
            <a:r>
              <a:rPr lang="en-US" sz="4000" dirty="0"/>
              <a:t>Modify files</a:t>
            </a:r>
          </a:p>
          <a:p>
            <a:r>
              <a:rPr lang="en-US" sz="4000" dirty="0"/>
              <a:t>Recalculate hashes</a:t>
            </a:r>
          </a:p>
          <a:p>
            <a:r>
              <a:rPr lang="en-US" sz="4000" dirty="0"/>
              <a:t>Replace the baseline database</a:t>
            </a:r>
          </a:p>
          <a:p>
            <a:r>
              <a:rPr lang="en-US" sz="4000" dirty="0"/>
              <a:t>This defeats the detection mechanism.</a:t>
            </a:r>
          </a:p>
          <a:p>
            <a:endParaRPr lang="en-IN" dirty="0"/>
          </a:p>
        </p:txBody>
      </p:sp>
    </p:spTree>
    <p:extLst>
      <p:ext uri="{BB962C8B-B14F-4D97-AF65-F5344CB8AC3E}">
        <p14:creationId xmlns:p14="http://schemas.microsoft.com/office/powerpoint/2010/main" val="3803331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C9757-C567-FEDA-C07E-DFDE6682CF87}"/>
              </a:ext>
            </a:extLst>
          </p:cNvPr>
          <p:cNvSpPr>
            <a:spLocks noGrp="1"/>
          </p:cNvSpPr>
          <p:nvPr>
            <p:ph type="title"/>
          </p:nvPr>
        </p:nvSpPr>
        <p:spPr/>
        <p:txBody>
          <a:bodyPr/>
          <a:lstStyle/>
          <a:p>
            <a:r>
              <a:rPr lang="en-IN" b="1" dirty="0"/>
              <a:t>Existing Challenges and Limitations</a:t>
            </a:r>
          </a:p>
        </p:txBody>
      </p:sp>
      <p:sp>
        <p:nvSpPr>
          <p:cNvPr id="3" name="Content Placeholder 2">
            <a:extLst>
              <a:ext uri="{FF2B5EF4-FFF2-40B4-BE49-F238E27FC236}">
                <a16:creationId xmlns:a16="http://schemas.microsoft.com/office/drawing/2014/main" id="{4B91403C-ED52-5E15-0729-8B4D437A7AA5}"/>
              </a:ext>
            </a:extLst>
          </p:cNvPr>
          <p:cNvSpPr>
            <a:spLocks noGrp="1"/>
          </p:cNvSpPr>
          <p:nvPr>
            <p:ph idx="1"/>
          </p:nvPr>
        </p:nvSpPr>
        <p:spPr>
          <a:xfrm>
            <a:off x="838200" y="1427747"/>
            <a:ext cx="10515600" cy="4749216"/>
          </a:xfrm>
        </p:spPr>
        <p:txBody>
          <a:bodyPr>
            <a:normAutofit fontScale="40000" lnSpcReduction="20000"/>
          </a:bodyPr>
          <a:lstStyle/>
          <a:p>
            <a:pPr marL="0" indent="0">
              <a:buNone/>
            </a:pPr>
            <a:r>
              <a:rPr lang="en-US" sz="6000" b="1" dirty="0"/>
              <a:t>3. Periodic (Not Real-Time) Monitoring</a:t>
            </a:r>
          </a:p>
          <a:p>
            <a:pPr marL="0" indent="0">
              <a:buNone/>
            </a:pPr>
            <a:r>
              <a:rPr lang="en-US" sz="6000" dirty="0"/>
              <a:t>Tools such as Tripwire often:</a:t>
            </a:r>
          </a:p>
          <a:p>
            <a:r>
              <a:rPr lang="en-US" sz="6000" dirty="0"/>
              <a:t>Run scheduled scans</a:t>
            </a:r>
          </a:p>
          <a:p>
            <a:r>
              <a:rPr lang="en-US" sz="6000" dirty="0"/>
              <a:t>Detect tampering only after execution</a:t>
            </a:r>
          </a:p>
          <a:p>
            <a:r>
              <a:rPr lang="en-US" sz="6000" dirty="0"/>
              <a:t>Do not provide immediate alerts</a:t>
            </a:r>
          </a:p>
          <a:p>
            <a:pPr marL="0" indent="0">
              <a:buNone/>
            </a:pPr>
            <a:r>
              <a:rPr lang="en-US" sz="6000" b="1" dirty="0"/>
              <a:t>4. Scalability Issues</a:t>
            </a:r>
            <a:endParaRPr lang="en-US" sz="6000" dirty="0"/>
          </a:p>
          <a:p>
            <a:r>
              <a:rPr lang="en-US" sz="6000" dirty="0"/>
              <a:t>Millions of files</a:t>
            </a:r>
          </a:p>
          <a:p>
            <a:r>
              <a:rPr lang="en-US" sz="6000" dirty="0"/>
              <a:t>Large storage volumes</a:t>
            </a:r>
          </a:p>
          <a:p>
            <a:r>
              <a:rPr lang="en-US" sz="6000" dirty="0"/>
              <a:t>Distributed architectures</a:t>
            </a:r>
          </a:p>
          <a:p>
            <a:r>
              <a:rPr lang="en-US" sz="6000" dirty="0"/>
              <a:t>Computing hashes repeatedly consumes:</a:t>
            </a:r>
          </a:p>
          <a:p>
            <a:r>
              <a:rPr lang="en-US" sz="6000" dirty="0"/>
              <a:t>CPU resources</a:t>
            </a:r>
          </a:p>
          <a:p>
            <a:r>
              <a:rPr lang="en-US" sz="6000" dirty="0"/>
              <a:t>Disk I/O bandwidth</a:t>
            </a:r>
          </a:p>
          <a:p>
            <a:pPr marL="0" indent="0">
              <a:buNone/>
            </a:pPr>
            <a:endParaRPr lang="en-US" sz="5000" dirty="0"/>
          </a:p>
          <a:p>
            <a:endParaRPr lang="en-IN" dirty="0"/>
          </a:p>
        </p:txBody>
      </p:sp>
    </p:spTree>
    <p:extLst>
      <p:ext uri="{BB962C8B-B14F-4D97-AF65-F5344CB8AC3E}">
        <p14:creationId xmlns:p14="http://schemas.microsoft.com/office/powerpoint/2010/main" val="3260755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6932-956F-1420-97E3-515F345FB9BA}"/>
              </a:ext>
            </a:extLst>
          </p:cNvPr>
          <p:cNvSpPr>
            <a:spLocks noGrp="1"/>
          </p:cNvSpPr>
          <p:nvPr>
            <p:ph type="title"/>
          </p:nvPr>
        </p:nvSpPr>
        <p:spPr/>
        <p:txBody>
          <a:bodyPr/>
          <a:lstStyle/>
          <a:p>
            <a:r>
              <a:rPr lang="en-US" b="1" dirty="0"/>
              <a:t>PROPOSED SOLUTION </a:t>
            </a:r>
            <a:endParaRPr lang="en-IN" b="1" dirty="0"/>
          </a:p>
        </p:txBody>
      </p:sp>
      <p:sp>
        <p:nvSpPr>
          <p:cNvPr id="3" name="Content Placeholder 2">
            <a:extLst>
              <a:ext uri="{FF2B5EF4-FFF2-40B4-BE49-F238E27FC236}">
                <a16:creationId xmlns:a16="http://schemas.microsoft.com/office/drawing/2014/main" id="{01460ED6-85C9-D920-C567-2B2C0F084F0E}"/>
              </a:ext>
            </a:extLst>
          </p:cNvPr>
          <p:cNvSpPr>
            <a:spLocks noGrp="1"/>
          </p:cNvSpPr>
          <p:nvPr>
            <p:ph idx="1"/>
          </p:nvPr>
        </p:nvSpPr>
        <p:spPr/>
        <p:txBody>
          <a:bodyPr>
            <a:normAutofit/>
          </a:bodyPr>
          <a:lstStyle/>
          <a:p>
            <a:pPr marL="0" indent="0">
              <a:buNone/>
            </a:pPr>
            <a:r>
              <a:rPr lang="en-US" dirty="0"/>
              <a:t>Due to the limitations of current systems, there is a need for a:</a:t>
            </a:r>
          </a:p>
          <a:p>
            <a:r>
              <a:rPr lang="en-US" dirty="0"/>
              <a:t>Strong-hash-based integrity system (using SHA-256 or stronger)</a:t>
            </a:r>
          </a:p>
          <a:p>
            <a:r>
              <a:rPr lang="en-US" dirty="0"/>
              <a:t>Secure baseline storage mechanism</a:t>
            </a:r>
          </a:p>
          <a:p>
            <a:r>
              <a:rPr lang="en-US" dirty="0"/>
              <a:t>Efficient and scalable hashing approach</a:t>
            </a:r>
          </a:p>
          <a:p>
            <a:r>
              <a:rPr lang="en-US" dirty="0"/>
              <a:t>Hash Storage - Saves the computed hash in a file for later reference. </a:t>
            </a:r>
          </a:p>
          <a:p>
            <a:r>
              <a:rPr lang="en-US" dirty="0"/>
              <a:t>Lightweight system suitable for small and medium environments</a:t>
            </a:r>
          </a:p>
          <a:p>
            <a:pPr marL="0" indent="0">
              <a:buNone/>
            </a:pPr>
            <a:r>
              <a:rPr lang="en-US" dirty="0"/>
              <a:t>The proposed project aims to design a </a:t>
            </a:r>
            <a:r>
              <a:rPr lang="en-US" b="1" dirty="0"/>
              <a:t>secure file integrity monitoring system using strong cryptographic hashing (SHA-256)</a:t>
            </a:r>
            <a:r>
              <a:rPr lang="en-US" dirty="0"/>
              <a:t> with improved baseline protection and efficient detection mechanisms.</a:t>
            </a:r>
          </a:p>
          <a:p>
            <a:endParaRPr lang="en-IN" dirty="0"/>
          </a:p>
        </p:txBody>
      </p:sp>
    </p:spTree>
    <p:extLst>
      <p:ext uri="{BB962C8B-B14F-4D97-AF65-F5344CB8AC3E}">
        <p14:creationId xmlns:p14="http://schemas.microsoft.com/office/powerpoint/2010/main" val="719464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EB7D8-671F-632F-4CA0-2860644DEAA6}"/>
              </a:ext>
            </a:extLst>
          </p:cNvPr>
          <p:cNvSpPr>
            <a:spLocks noGrp="1"/>
          </p:cNvSpPr>
          <p:nvPr>
            <p:ph type="title"/>
          </p:nvPr>
        </p:nvSpPr>
        <p:spPr/>
        <p:txBody>
          <a:bodyPr/>
          <a:lstStyle/>
          <a:p>
            <a:r>
              <a:rPr lang="en-US" b="1" dirty="0"/>
              <a:t>SECURITY AND TECHNICAL REQUIREMENT </a:t>
            </a:r>
            <a:endParaRPr lang="en-IN" b="1" dirty="0"/>
          </a:p>
        </p:txBody>
      </p:sp>
      <p:sp>
        <p:nvSpPr>
          <p:cNvPr id="3" name="Content Placeholder 2">
            <a:extLst>
              <a:ext uri="{FF2B5EF4-FFF2-40B4-BE49-F238E27FC236}">
                <a16:creationId xmlns:a16="http://schemas.microsoft.com/office/drawing/2014/main" id="{00E34019-14B6-C258-8862-73975FB3A3A7}"/>
              </a:ext>
            </a:extLst>
          </p:cNvPr>
          <p:cNvSpPr>
            <a:spLocks noGrp="1"/>
          </p:cNvSpPr>
          <p:nvPr>
            <p:ph idx="1"/>
          </p:nvPr>
        </p:nvSpPr>
        <p:spPr>
          <a:xfrm>
            <a:off x="709862" y="1331495"/>
            <a:ext cx="11193379" cy="5406189"/>
          </a:xfrm>
        </p:spPr>
        <p:txBody>
          <a:bodyPr>
            <a:noAutofit/>
          </a:bodyPr>
          <a:lstStyle/>
          <a:p>
            <a:pPr marL="0" indent="0">
              <a:buNone/>
            </a:pPr>
            <a:r>
              <a:rPr lang="en-US" sz="2400" b="1" dirty="0"/>
              <a:t>Security Requirements</a:t>
            </a:r>
          </a:p>
          <a:p>
            <a:r>
              <a:rPr lang="en-US" sz="2400" dirty="0"/>
              <a:t>Collision-resistant hashing (SHA-256 or higher)</a:t>
            </a:r>
          </a:p>
          <a:p>
            <a:r>
              <a:rPr lang="en-US" sz="2400" dirty="0"/>
              <a:t>Secure storage of baseline hash database</a:t>
            </a:r>
          </a:p>
          <a:p>
            <a:r>
              <a:rPr lang="en-US" sz="2400" dirty="0"/>
              <a:t>Protection against hash database tampering</a:t>
            </a:r>
          </a:p>
          <a:p>
            <a:r>
              <a:rPr lang="en-US" sz="2400" dirty="0"/>
              <a:t>Detection of file creation, deletion, and modification</a:t>
            </a:r>
          </a:p>
          <a:p>
            <a:r>
              <a:rPr lang="en-US" sz="2400" dirty="0"/>
              <a:t>Logging and audit capability</a:t>
            </a:r>
          </a:p>
          <a:p>
            <a:pPr marL="0" indent="0">
              <a:buNone/>
            </a:pPr>
            <a:r>
              <a:rPr lang="en-US" sz="2400" b="1" dirty="0"/>
              <a:t>Technical Requirements</a:t>
            </a:r>
          </a:p>
          <a:p>
            <a:r>
              <a:rPr lang="en-US" sz="2400" dirty="0"/>
              <a:t>Efficient hash computation</a:t>
            </a:r>
          </a:p>
          <a:p>
            <a:r>
              <a:rPr lang="en-US" sz="2400" dirty="0"/>
              <a:t>Low system overhead</a:t>
            </a:r>
          </a:p>
          <a:p>
            <a:r>
              <a:rPr lang="en-US" sz="2400" dirty="0"/>
              <a:t>Compatibility with comm</a:t>
            </a:r>
          </a:p>
          <a:p>
            <a:r>
              <a:rPr lang="en-US" sz="2400" dirty="0"/>
              <a:t>on operating systems</a:t>
            </a:r>
          </a:p>
          <a:p>
            <a:r>
              <a:rPr lang="en-US" sz="2400" dirty="0"/>
              <a:t>Scalable architecture</a:t>
            </a:r>
            <a:endParaRPr lang="en-IN" sz="2400" dirty="0"/>
          </a:p>
        </p:txBody>
      </p:sp>
    </p:spTree>
    <p:extLst>
      <p:ext uri="{BB962C8B-B14F-4D97-AF65-F5344CB8AC3E}">
        <p14:creationId xmlns:p14="http://schemas.microsoft.com/office/powerpoint/2010/main" val="3267958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E0D3D-1492-3F22-BA07-07EB45BC6EC3}"/>
              </a:ext>
            </a:extLst>
          </p:cNvPr>
          <p:cNvSpPr>
            <a:spLocks noGrp="1"/>
          </p:cNvSpPr>
          <p:nvPr>
            <p:ph type="title"/>
          </p:nvPr>
        </p:nvSpPr>
        <p:spPr/>
        <p:txBody>
          <a:bodyPr/>
          <a:lstStyle/>
          <a:p>
            <a:r>
              <a:rPr lang="en-US" b="1" dirty="0"/>
              <a:t>LITERATURE SURVEY</a:t>
            </a:r>
            <a:endParaRPr lang="en-IN" b="1" dirty="0"/>
          </a:p>
        </p:txBody>
      </p:sp>
      <p:sp>
        <p:nvSpPr>
          <p:cNvPr id="3" name="Content Placeholder 2">
            <a:extLst>
              <a:ext uri="{FF2B5EF4-FFF2-40B4-BE49-F238E27FC236}">
                <a16:creationId xmlns:a16="http://schemas.microsoft.com/office/drawing/2014/main" id="{BEB73BE1-8948-3ACC-B320-EB4CA4966918}"/>
              </a:ext>
            </a:extLst>
          </p:cNvPr>
          <p:cNvSpPr>
            <a:spLocks noGrp="1"/>
          </p:cNvSpPr>
          <p:nvPr>
            <p:ph idx="1"/>
          </p:nvPr>
        </p:nvSpPr>
        <p:spPr/>
        <p:txBody>
          <a:bodyPr/>
          <a:lstStyle/>
          <a:p>
            <a:r>
              <a:rPr lang="en-US" dirty="0"/>
              <a:t>Study of Cryptographic Hash Functions : For file verification, hashing [5] algorithms like MD5 [1], SHA-1, and SHA 256 [10] are frequently employed (Rivest, 1992).</a:t>
            </a:r>
          </a:p>
          <a:p>
            <a:r>
              <a:rPr lang="en-US" dirty="0"/>
              <a:t>Advanced security solutions are offered by file integrity  monitoring tools like Tripwire and OSSEC.</a:t>
            </a:r>
          </a:p>
          <a:p>
            <a:r>
              <a:rPr lang="en-US" dirty="0"/>
              <a:t>Greater flexibility and automation are possible with a lightweight Python-based solution.</a:t>
            </a:r>
          </a:p>
          <a:p>
            <a:r>
              <a:rPr lang="en-US" dirty="0"/>
              <a:t>Digital signatures, data encryption, and password storage are just a few of the uses for hash functions, which are an essential part of cryptographic security. </a:t>
            </a:r>
            <a:endParaRPr lang="en-IN" dirty="0"/>
          </a:p>
        </p:txBody>
      </p:sp>
    </p:spTree>
    <p:extLst>
      <p:ext uri="{BB962C8B-B14F-4D97-AF65-F5344CB8AC3E}">
        <p14:creationId xmlns:p14="http://schemas.microsoft.com/office/powerpoint/2010/main" val="1223660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9D7E7-2C5D-46B5-0D4A-EF490D63CA4F}"/>
              </a:ext>
            </a:extLst>
          </p:cNvPr>
          <p:cNvSpPr>
            <a:spLocks noGrp="1"/>
          </p:cNvSpPr>
          <p:nvPr>
            <p:ph type="title"/>
          </p:nvPr>
        </p:nvSpPr>
        <p:spPr/>
        <p:txBody>
          <a:bodyPr/>
          <a:lstStyle/>
          <a:p>
            <a:r>
              <a:rPr lang="en-US" b="1" dirty="0"/>
              <a:t>STUDY OF CRYPTOGRAPHIC HASH FUNCTION</a:t>
            </a:r>
            <a:endParaRPr lang="en-IN" b="1" dirty="0"/>
          </a:p>
        </p:txBody>
      </p:sp>
      <p:sp>
        <p:nvSpPr>
          <p:cNvPr id="3" name="Content Placeholder 2">
            <a:extLst>
              <a:ext uri="{FF2B5EF4-FFF2-40B4-BE49-F238E27FC236}">
                <a16:creationId xmlns:a16="http://schemas.microsoft.com/office/drawing/2014/main" id="{077DDC66-9A52-D3B8-AAC3-DE2B01EB9764}"/>
              </a:ext>
            </a:extLst>
          </p:cNvPr>
          <p:cNvSpPr>
            <a:spLocks noGrp="1"/>
          </p:cNvSpPr>
          <p:nvPr>
            <p:ph idx="1"/>
          </p:nvPr>
        </p:nvSpPr>
        <p:spPr/>
        <p:txBody>
          <a:bodyPr/>
          <a:lstStyle/>
          <a:p>
            <a:pPr marL="0" indent="0">
              <a:buNone/>
            </a:pPr>
            <a:r>
              <a:rPr lang="en-US" b="1" dirty="0"/>
              <a:t>2. SHA-1 (Secure Hash Algorithm 1)</a:t>
            </a:r>
          </a:p>
          <a:p>
            <a:r>
              <a:rPr lang="en-US" dirty="0"/>
              <a:t>Developed by NSA, produces a 160-bit digest.</a:t>
            </a:r>
          </a:p>
          <a:p>
            <a:pPr marL="0" indent="0">
              <a:buNone/>
            </a:pPr>
            <a:r>
              <a:rPr lang="en-US" b="1" dirty="0"/>
              <a:t>Advantages:</a:t>
            </a:r>
            <a:endParaRPr lang="en-US" dirty="0"/>
          </a:p>
          <a:p>
            <a:r>
              <a:rPr lang="en-US" dirty="0"/>
              <a:t>More secure than MD5 (initially)</a:t>
            </a:r>
          </a:p>
          <a:p>
            <a:r>
              <a:rPr lang="en-US" dirty="0"/>
              <a:t>Widely adopted</a:t>
            </a:r>
          </a:p>
          <a:p>
            <a:pPr marL="0" indent="0">
              <a:buNone/>
            </a:pPr>
            <a:r>
              <a:rPr lang="en-US" b="1" dirty="0"/>
              <a:t>Limitations:</a:t>
            </a:r>
            <a:endParaRPr lang="en-US" dirty="0"/>
          </a:p>
          <a:p>
            <a:r>
              <a:rPr lang="en-US" dirty="0"/>
              <a:t>Proven collision attacks (2017)</a:t>
            </a:r>
          </a:p>
          <a:p>
            <a:r>
              <a:rPr lang="en-US" dirty="0"/>
              <a:t>Deprecated in most security standards</a:t>
            </a:r>
          </a:p>
          <a:p>
            <a:endParaRPr lang="en-IN" dirty="0"/>
          </a:p>
        </p:txBody>
      </p:sp>
    </p:spTree>
    <p:extLst>
      <p:ext uri="{BB962C8B-B14F-4D97-AF65-F5344CB8AC3E}">
        <p14:creationId xmlns:p14="http://schemas.microsoft.com/office/powerpoint/2010/main" val="2059539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2C6A0-F876-2F94-8DC8-39E9DA259A11}"/>
              </a:ext>
            </a:extLst>
          </p:cNvPr>
          <p:cNvSpPr>
            <a:spLocks noGrp="1"/>
          </p:cNvSpPr>
          <p:nvPr>
            <p:ph type="title"/>
          </p:nvPr>
        </p:nvSpPr>
        <p:spPr/>
        <p:txBody>
          <a:bodyPr/>
          <a:lstStyle/>
          <a:p>
            <a:r>
              <a:rPr lang="en-US" b="1" dirty="0"/>
              <a:t>STUDY OF CRYPTOGRAPHIC HASH FUNCTION</a:t>
            </a:r>
            <a:endParaRPr lang="en-IN" b="1" dirty="0"/>
          </a:p>
        </p:txBody>
      </p:sp>
      <p:sp>
        <p:nvSpPr>
          <p:cNvPr id="3" name="Content Placeholder 2">
            <a:extLst>
              <a:ext uri="{FF2B5EF4-FFF2-40B4-BE49-F238E27FC236}">
                <a16:creationId xmlns:a16="http://schemas.microsoft.com/office/drawing/2014/main" id="{74F1A549-5932-3FDD-4349-87B54EE9B86C}"/>
              </a:ext>
            </a:extLst>
          </p:cNvPr>
          <p:cNvSpPr>
            <a:spLocks noGrp="1"/>
          </p:cNvSpPr>
          <p:nvPr>
            <p:ph idx="1"/>
          </p:nvPr>
        </p:nvSpPr>
        <p:spPr/>
        <p:txBody>
          <a:bodyPr>
            <a:normAutofit fontScale="92500" lnSpcReduction="20000"/>
          </a:bodyPr>
          <a:lstStyle/>
          <a:p>
            <a:pPr marL="0" indent="0">
              <a:buNone/>
            </a:pPr>
            <a:r>
              <a:rPr lang="en-US" b="1" dirty="0"/>
              <a:t>3. SHA-256 (Part of SHA-2 Family)</a:t>
            </a:r>
          </a:p>
          <a:p>
            <a:r>
              <a:rPr lang="en-US" dirty="0"/>
              <a:t>Produces a 256-bit hash.</a:t>
            </a:r>
          </a:p>
          <a:p>
            <a:pPr marL="0" indent="0">
              <a:buNone/>
            </a:pPr>
            <a:r>
              <a:rPr lang="en-US" b="1" dirty="0"/>
              <a:t>Advantages:</a:t>
            </a:r>
            <a:endParaRPr lang="en-US" dirty="0"/>
          </a:p>
          <a:p>
            <a:r>
              <a:rPr lang="en-US" dirty="0"/>
              <a:t>Strong collision resistance</a:t>
            </a:r>
          </a:p>
          <a:p>
            <a:r>
              <a:rPr lang="en-US" dirty="0"/>
              <a:t>Currently secure for integrity applications</a:t>
            </a:r>
          </a:p>
          <a:p>
            <a:r>
              <a:rPr lang="en-US" dirty="0"/>
              <a:t>Widely used in cybersecurity and blockchain</a:t>
            </a:r>
          </a:p>
          <a:p>
            <a:pPr marL="0" indent="0">
              <a:buNone/>
            </a:pPr>
            <a:r>
              <a:rPr lang="en-US" b="1" dirty="0"/>
              <a:t>Limitations:</a:t>
            </a:r>
            <a:endParaRPr lang="en-US" dirty="0"/>
          </a:p>
          <a:p>
            <a:r>
              <a:rPr lang="en-US" dirty="0"/>
              <a:t>Higher computational cost than MD5</a:t>
            </a:r>
          </a:p>
          <a:p>
            <a:r>
              <a:rPr lang="en-US" dirty="0"/>
              <a:t>May impact performance in large-scale systems</a:t>
            </a:r>
          </a:p>
          <a:p>
            <a:pPr marL="0" indent="0">
              <a:buNone/>
            </a:pPr>
            <a:r>
              <a:rPr lang="en-US" b="1" dirty="0"/>
              <a:t>Conclusion:</a:t>
            </a:r>
            <a:r>
              <a:rPr lang="en-US" dirty="0"/>
              <a:t> Modern systems should rely on SHA-256 instead of MD5 or SHA-1.</a:t>
            </a:r>
          </a:p>
          <a:p>
            <a:endParaRPr lang="en-IN" dirty="0"/>
          </a:p>
        </p:txBody>
      </p:sp>
    </p:spTree>
    <p:extLst>
      <p:ext uri="{BB962C8B-B14F-4D97-AF65-F5344CB8AC3E}">
        <p14:creationId xmlns:p14="http://schemas.microsoft.com/office/powerpoint/2010/main" val="4185124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98EE9-2820-1021-F1BA-595E00E0A855}"/>
              </a:ext>
            </a:extLst>
          </p:cNvPr>
          <p:cNvSpPr>
            <a:spLocks noGrp="1"/>
          </p:cNvSpPr>
          <p:nvPr>
            <p:ph type="title"/>
          </p:nvPr>
        </p:nvSpPr>
        <p:spPr/>
        <p:txBody>
          <a:bodyPr/>
          <a:lstStyle/>
          <a:p>
            <a:r>
              <a:rPr lang="en-US" b="1" dirty="0"/>
              <a:t> STUDY OF CRYPTOGRAPHIC HASH FUNCTION</a:t>
            </a:r>
            <a:endParaRPr lang="en-IN" dirty="0"/>
          </a:p>
        </p:txBody>
      </p:sp>
      <p:sp>
        <p:nvSpPr>
          <p:cNvPr id="3" name="Content Placeholder 2">
            <a:extLst>
              <a:ext uri="{FF2B5EF4-FFF2-40B4-BE49-F238E27FC236}">
                <a16:creationId xmlns:a16="http://schemas.microsoft.com/office/drawing/2014/main" id="{CB6BA344-5FFA-29DD-8C7C-731273ECF745}"/>
              </a:ext>
            </a:extLst>
          </p:cNvPr>
          <p:cNvSpPr>
            <a:spLocks noGrp="1"/>
          </p:cNvSpPr>
          <p:nvPr>
            <p:ph idx="1"/>
          </p:nvPr>
        </p:nvSpPr>
        <p:spPr/>
        <p:txBody>
          <a:bodyPr>
            <a:normAutofit fontScale="92500" lnSpcReduction="10000"/>
          </a:bodyPr>
          <a:lstStyle/>
          <a:p>
            <a:pPr marL="0" indent="0">
              <a:buNone/>
            </a:pPr>
            <a:r>
              <a:rPr lang="en-US" b="1" dirty="0"/>
              <a:t>1. MD5 (Message Digest 5)</a:t>
            </a:r>
          </a:p>
          <a:p>
            <a:r>
              <a:rPr lang="en-US" dirty="0"/>
              <a:t>Developed by Ronald Rivest (1991), MD5 produces a 128-bit hash value.</a:t>
            </a:r>
          </a:p>
          <a:p>
            <a:pPr marL="0" indent="0">
              <a:buNone/>
            </a:pPr>
            <a:r>
              <a:rPr lang="en-US" b="1" dirty="0"/>
              <a:t>Advantages:</a:t>
            </a:r>
            <a:endParaRPr lang="en-US" dirty="0"/>
          </a:p>
          <a:p>
            <a:r>
              <a:rPr lang="en-US" dirty="0"/>
              <a:t>Fast computation</a:t>
            </a:r>
          </a:p>
          <a:p>
            <a:r>
              <a:rPr lang="en-US" dirty="0"/>
              <a:t>Low computational cost</a:t>
            </a:r>
          </a:p>
          <a:p>
            <a:pPr marL="0" indent="0">
              <a:buNone/>
            </a:pPr>
            <a:r>
              <a:rPr lang="en-US" b="1" dirty="0"/>
              <a:t>Limitations:</a:t>
            </a:r>
            <a:endParaRPr lang="en-US" dirty="0"/>
          </a:p>
          <a:p>
            <a:r>
              <a:rPr lang="en-US" dirty="0"/>
              <a:t>Vulnerable to collision attacks</a:t>
            </a:r>
          </a:p>
          <a:p>
            <a:r>
              <a:rPr lang="en-US" dirty="0"/>
              <a:t>Not secure for modern integrity systems</a:t>
            </a:r>
          </a:p>
          <a:p>
            <a:r>
              <a:rPr lang="en-US" dirty="0"/>
              <a:t>Research shows that MD5 collisions can be generated practically, making it unsuitable for security-critical applications.</a:t>
            </a:r>
          </a:p>
          <a:p>
            <a:endParaRPr lang="en-IN" dirty="0"/>
          </a:p>
        </p:txBody>
      </p:sp>
    </p:spTree>
    <p:extLst>
      <p:ext uri="{BB962C8B-B14F-4D97-AF65-F5344CB8AC3E}">
        <p14:creationId xmlns:p14="http://schemas.microsoft.com/office/powerpoint/2010/main" val="2034598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18513-1746-F4EF-20EC-71201695BF11}"/>
              </a:ext>
            </a:extLst>
          </p:cNvPr>
          <p:cNvSpPr>
            <a:spLocks noGrp="1"/>
          </p:cNvSpPr>
          <p:nvPr>
            <p:ph type="title"/>
          </p:nvPr>
        </p:nvSpPr>
        <p:spPr/>
        <p:txBody>
          <a:bodyPr/>
          <a:lstStyle/>
          <a:p>
            <a:r>
              <a:rPr lang="en-US" b="1" dirty="0"/>
              <a:t>DEVELOPMENT ENVIRONMENT</a:t>
            </a:r>
            <a:endParaRPr lang="en-IN" b="1" dirty="0"/>
          </a:p>
        </p:txBody>
      </p:sp>
      <p:sp>
        <p:nvSpPr>
          <p:cNvPr id="3" name="Content Placeholder 2">
            <a:extLst>
              <a:ext uri="{FF2B5EF4-FFF2-40B4-BE49-F238E27FC236}">
                <a16:creationId xmlns:a16="http://schemas.microsoft.com/office/drawing/2014/main" id="{947DF9E2-0E7F-B8FE-41B2-205B6EC9DE8C}"/>
              </a:ext>
            </a:extLst>
          </p:cNvPr>
          <p:cNvSpPr>
            <a:spLocks noGrp="1"/>
          </p:cNvSpPr>
          <p:nvPr>
            <p:ph idx="1"/>
          </p:nvPr>
        </p:nvSpPr>
        <p:spPr/>
        <p:txBody>
          <a:bodyPr/>
          <a:lstStyle/>
          <a:p>
            <a:r>
              <a:rPr lang="en-US" dirty="0"/>
              <a:t>The development environment was successfully set up with the following tools and resources:</a:t>
            </a:r>
          </a:p>
          <a:p>
            <a:r>
              <a:rPr lang="en-US" dirty="0"/>
              <a:t>Install Operating System : Windows 10/11,Linux(Ubuntu) or </a:t>
            </a:r>
            <a:r>
              <a:rPr lang="en-US" dirty="0" err="1"/>
              <a:t>macos</a:t>
            </a:r>
            <a:r>
              <a:rPr lang="en-US" dirty="0"/>
              <a:t>.</a:t>
            </a:r>
          </a:p>
          <a:p>
            <a:r>
              <a:rPr lang="en-US" dirty="0"/>
              <a:t>Install </a:t>
            </a:r>
            <a:r>
              <a:rPr lang="en-US" b="1" dirty="0"/>
              <a:t>Python </a:t>
            </a:r>
            <a:r>
              <a:rPr lang="en-US" dirty="0"/>
              <a:t>because it provide built-in cryptographic libraries, easy file handling, database support and rapid development , making it ideal for this project.</a:t>
            </a:r>
          </a:p>
          <a:p>
            <a:r>
              <a:rPr lang="en-IN" dirty="0"/>
              <a:t>Install Libraries : </a:t>
            </a:r>
            <a:r>
              <a:rPr lang="en-IN" dirty="0" err="1"/>
              <a:t>hashlib</a:t>
            </a:r>
            <a:r>
              <a:rPr lang="en-IN" dirty="0"/>
              <a:t> (for SHA-256 hashing), operating system (file operation), time(for scheduling), </a:t>
            </a:r>
          </a:p>
          <a:p>
            <a:r>
              <a:rPr lang="en-IN" dirty="0"/>
              <a:t>Set up Git and GitHub for version control and project management</a:t>
            </a:r>
          </a:p>
          <a:p>
            <a:endParaRPr lang="en-IN" dirty="0"/>
          </a:p>
        </p:txBody>
      </p:sp>
    </p:spTree>
    <p:extLst>
      <p:ext uri="{BB962C8B-B14F-4D97-AF65-F5344CB8AC3E}">
        <p14:creationId xmlns:p14="http://schemas.microsoft.com/office/powerpoint/2010/main" val="1313323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92B29-4234-D2FD-DCCD-865FA1BB435E}"/>
              </a:ext>
            </a:extLst>
          </p:cNvPr>
          <p:cNvSpPr>
            <a:spLocks noGrp="1"/>
          </p:cNvSpPr>
          <p:nvPr>
            <p:ph type="title"/>
          </p:nvPr>
        </p:nvSpPr>
        <p:spPr/>
        <p:txBody>
          <a:bodyPr/>
          <a:lstStyle/>
          <a:p>
            <a:r>
              <a:rPr lang="en-US" b="1" dirty="0"/>
              <a:t>HARDWARE IMPLEMENTATION</a:t>
            </a:r>
            <a:endParaRPr lang="en-IN" b="1" dirty="0"/>
          </a:p>
        </p:txBody>
      </p:sp>
      <p:sp>
        <p:nvSpPr>
          <p:cNvPr id="3" name="Content Placeholder 2">
            <a:extLst>
              <a:ext uri="{FF2B5EF4-FFF2-40B4-BE49-F238E27FC236}">
                <a16:creationId xmlns:a16="http://schemas.microsoft.com/office/drawing/2014/main" id="{AF67A3FC-9682-945F-3040-A7C36F69421C}"/>
              </a:ext>
            </a:extLst>
          </p:cNvPr>
          <p:cNvSpPr>
            <a:spLocks noGrp="1"/>
          </p:cNvSpPr>
          <p:nvPr>
            <p:ph idx="1"/>
          </p:nvPr>
        </p:nvSpPr>
        <p:spPr/>
        <p:txBody>
          <a:bodyPr/>
          <a:lstStyle/>
          <a:p>
            <a:r>
              <a:rPr lang="en-US" dirty="0"/>
              <a:t>Since the File Integrity Checker is made to function well on any common computer system, it doesn't require any specific hardware to be implemented. A computer with a dual-core processor, at least 4GB of RAM, and enough storage space to hold hash records are the very minimum system requirements. Because Python is installed on Linux, macOS, and Windows, the program can run on any of these operating systems</a:t>
            </a:r>
            <a:endParaRPr lang="en-IN" dirty="0"/>
          </a:p>
        </p:txBody>
      </p:sp>
    </p:spTree>
    <p:extLst>
      <p:ext uri="{BB962C8B-B14F-4D97-AF65-F5344CB8AC3E}">
        <p14:creationId xmlns:p14="http://schemas.microsoft.com/office/powerpoint/2010/main" val="1446629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CBC1-347C-AA83-4F35-403E15131F8D}"/>
              </a:ext>
            </a:extLst>
          </p:cNvPr>
          <p:cNvSpPr>
            <a:spLocks noGrp="1"/>
          </p:cNvSpPr>
          <p:nvPr>
            <p:ph type="title"/>
          </p:nvPr>
        </p:nvSpPr>
        <p:spPr/>
        <p:txBody>
          <a:bodyPr/>
          <a:lstStyle/>
          <a:p>
            <a:r>
              <a:rPr lang="en-US" b="1" dirty="0"/>
              <a:t>SOFTWARE IMPLEMENTATION</a:t>
            </a:r>
            <a:endParaRPr lang="en-IN" b="1" dirty="0"/>
          </a:p>
        </p:txBody>
      </p:sp>
      <p:sp>
        <p:nvSpPr>
          <p:cNvPr id="3" name="Content Placeholder 2">
            <a:extLst>
              <a:ext uri="{FF2B5EF4-FFF2-40B4-BE49-F238E27FC236}">
                <a16:creationId xmlns:a16="http://schemas.microsoft.com/office/drawing/2014/main" id="{D10D7225-C531-6E55-C532-DC7AABB75728}"/>
              </a:ext>
            </a:extLst>
          </p:cNvPr>
          <p:cNvSpPr>
            <a:spLocks noGrp="1"/>
          </p:cNvSpPr>
          <p:nvPr>
            <p:ph idx="1"/>
          </p:nvPr>
        </p:nvSpPr>
        <p:spPr/>
        <p:txBody>
          <a:bodyPr/>
          <a:lstStyle/>
          <a:p>
            <a:r>
              <a:rPr lang="en-US" dirty="0"/>
              <a:t>The File Integrity Checker is implemented in Python using the required libraries, such as </a:t>
            </a:r>
            <a:r>
              <a:rPr lang="en-US" dirty="0" err="1"/>
              <a:t>argparse</a:t>
            </a:r>
            <a:r>
              <a:rPr lang="en-US" dirty="0"/>
              <a:t>, </a:t>
            </a:r>
            <a:r>
              <a:rPr lang="en-US" dirty="0" err="1"/>
              <a:t>hashlib</a:t>
            </a:r>
            <a:r>
              <a:rPr lang="en-US" dirty="0"/>
              <a:t>, and </a:t>
            </a:r>
            <a:r>
              <a:rPr lang="en-US" dirty="0" err="1"/>
              <a:t>os</a:t>
            </a:r>
            <a:r>
              <a:rPr lang="en-US" dirty="0"/>
              <a:t>. The application has little graphical overhead because it is executed in a command-line environment. Users may quickly and easily generate, save, and validate file hashes thanks to the software's effective and intuitive architecture. </a:t>
            </a:r>
            <a:endParaRPr lang="en-IN" dirty="0"/>
          </a:p>
        </p:txBody>
      </p:sp>
    </p:spTree>
    <p:extLst>
      <p:ext uri="{BB962C8B-B14F-4D97-AF65-F5344CB8AC3E}">
        <p14:creationId xmlns:p14="http://schemas.microsoft.com/office/powerpoint/2010/main" val="2623403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9AC83-A71D-E9B3-FE4B-E982E782FA28}"/>
              </a:ext>
            </a:extLst>
          </p:cNvPr>
          <p:cNvSpPr>
            <a:spLocks noGrp="1"/>
          </p:cNvSpPr>
          <p:nvPr>
            <p:ph type="title"/>
          </p:nvPr>
        </p:nvSpPr>
        <p:spPr/>
        <p:txBody>
          <a:bodyPr/>
          <a:lstStyle/>
          <a:p>
            <a:r>
              <a:rPr lang="en-US" b="1" dirty="0"/>
              <a:t>REFERENCES</a:t>
            </a:r>
            <a:endParaRPr lang="en-IN" b="1" dirty="0"/>
          </a:p>
        </p:txBody>
      </p:sp>
      <p:sp>
        <p:nvSpPr>
          <p:cNvPr id="3" name="Content Placeholder 2">
            <a:extLst>
              <a:ext uri="{FF2B5EF4-FFF2-40B4-BE49-F238E27FC236}">
                <a16:creationId xmlns:a16="http://schemas.microsoft.com/office/drawing/2014/main" id="{D72FEC79-FD98-1C0F-D75B-92C4C5D68C76}"/>
              </a:ext>
            </a:extLst>
          </p:cNvPr>
          <p:cNvSpPr>
            <a:spLocks noGrp="1"/>
          </p:cNvSpPr>
          <p:nvPr>
            <p:ph idx="1"/>
          </p:nvPr>
        </p:nvSpPr>
        <p:spPr/>
        <p:txBody>
          <a:bodyPr>
            <a:normAutofit fontScale="92500"/>
          </a:bodyPr>
          <a:lstStyle/>
          <a:p>
            <a:r>
              <a:rPr lang="en-US" dirty="0">
                <a:hlinkClick r:id="rId2"/>
              </a:rPr>
              <a:t>FILE INTEGRITY CHECKER USING CRYPTO GRAPHIC HASH FUNCTION</a:t>
            </a:r>
            <a:endParaRPr lang="en-US" dirty="0"/>
          </a:p>
          <a:p>
            <a:r>
              <a:rPr lang="en-IN" dirty="0">
                <a:hlinkClick r:id="rId3"/>
              </a:rPr>
              <a:t>https://www.journalofemergingtechnologyanddigitaltransformation.com/index.php/3/article/view/111</a:t>
            </a:r>
            <a:r>
              <a:rPr lang="en-IN" dirty="0"/>
              <a:t> </a:t>
            </a:r>
          </a:p>
          <a:p>
            <a:r>
              <a:rPr lang="en-IN" dirty="0">
                <a:hlinkClick r:id="rId4"/>
              </a:rPr>
              <a:t>https://www.researchgate.net/publication/391672060_Exploring_Secure_Hashing_Algorithms_for_Data_Integrity_Verification</a:t>
            </a:r>
            <a:r>
              <a:rPr lang="en-IN" dirty="0"/>
              <a:t> </a:t>
            </a:r>
            <a:endParaRPr lang="en-US" dirty="0"/>
          </a:p>
          <a:p>
            <a:r>
              <a:rPr lang="en-IN" dirty="0"/>
              <a:t>Rivest, R. (1992). The MD5 Message-Digest Algorithm. RFC 1321.</a:t>
            </a:r>
          </a:p>
          <a:p>
            <a:r>
              <a:rPr lang="en-US" dirty="0"/>
              <a:t>Schneier, B. (1996). Applied Cryptography: Protocols, Algorithms, and Source Code in C. Wiley. </a:t>
            </a:r>
          </a:p>
          <a:p>
            <a:r>
              <a:rPr lang="en-US" dirty="0"/>
              <a:t>Kim, J., Lee, H., &amp; Park, S. (2020). Automated File Integrity Monitoring Systems for Cybersecurity. Journal of Information Security, 45(3), 120-135. </a:t>
            </a:r>
            <a:endParaRPr lang="en-IN" dirty="0"/>
          </a:p>
        </p:txBody>
      </p:sp>
    </p:spTree>
    <p:extLst>
      <p:ext uri="{BB962C8B-B14F-4D97-AF65-F5344CB8AC3E}">
        <p14:creationId xmlns:p14="http://schemas.microsoft.com/office/powerpoint/2010/main" val="1188992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1084</Words>
  <Application>Microsoft Office PowerPoint</Application>
  <PresentationFormat>Widescreen</PresentationFormat>
  <Paragraphs>117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PROJECT NAME – FILE INTEGIRITY MONITORING SYSTEM USING CRYPTOGRAPHIC HASHING</vt:lpstr>
      <vt:lpstr>FILE INTEGRITY SYSTEM USING    CRYPTOGRAPHIC HASHING</vt:lpstr>
      <vt:lpstr>File integrity monitoring (FIM) systems are widely used in: </vt:lpstr>
      <vt:lpstr>EXISTING CHALLENGES AND LIMITATIONS</vt:lpstr>
      <vt:lpstr>Existing Challenges and Limitations</vt:lpstr>
      <vt:lpstr>PROPOSED SOLUTION </vt:lpstr>
      <vt:lpstr>SECURITY AND TECHNICAL REQUIREMENT </vt:lpstr>
      <vt:lpstr>LITERATURE SURVEY</vt:lpstr>
      <vt:lpstr>STUDY OF CRYPTOGRAPHIC HASH FUNCTION</vt:lpstr>
      <vt:lpstr>STUDY OF CRYPTOGRAPHIC HASH FUNCTION</vt:lpstr>
      <vt:lpstr> STUDY OF CRYPTOGRAPHIC HASH FUNCTION</vt:lpstr>
      <vt:lpstr>DEVELOPMENT ENVIRONMENT</vt:lpstr>
      <vt:lpstr>HARDWARE IMPLEMENTATION</vt:lpstr>
      <vt:lpstr>SOFTWARE IMPLEMENTATION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Palak Upadhyay</dc:creator>
  <cp:lastModifiedBy>Palak Upadhyay</cp:lastModifiedBy>
  <cp:revision>1</cp:revision>
  <dcterms:created xsi:type="dcterms:W3CDTF">2026-02-22T19:32:25Z</dcterms:created>
  <dcterms:modified xsi:type="dcterms:W3CDTF">2026-03-30T08:01:13Z</dcterms:modified>
</cp:coreProperties>
</file>